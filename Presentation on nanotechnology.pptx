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63" r:id="rId2"/>
    <p:sldId id="264" r:id="rId3"/>
    <p:sldId id="257" r:id="rId4"/>
    <p:sldId id="258" r:id="rId5"/>
    <p:sldId id="259" r:id="rId6"/>
    <p:sldId id="261" r:id="rId7"/>
    <p:sldId id="262" r:id="rId8"/>
    <p:sldId id="266" r:id="rId9"/>
    <p:sldId id="267" r:id="rId10"/>
    <p:sldId id="272"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6C48F18-45AA-4D1E-A69D-E0A5DD93AA51}" v="2" dt="2021-10-01T07:38:31.57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7491" autoAdjust="0"/>
  </p:normalViewPr>
  <p:slideViewPr>
    <p:cSldViewPr snapToGrid="0">
      <p:cViewPr varScale="1">
        <p:scale>
          <a:sx n="62" d="100"/>
          <a:sy n="62" d="100"/>
        </p:scale>
        <p:origin x="828" y="56"/>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enkata Govindu, Mylapally" userId="25097381-72a6-447d-b574-bb19eee588b1" providerId="ADAL" clId="{46C48F18-45AA-4D1E-A69D-E0A5DD93AA51}"/>
    <pc:docChg chg="undo custSel addSld delSld">
      <pc:chgData name="Venkata Govindu, Mylapally" userId="25097381-72a6-447d-b574-bb19eee588b1" providerId="ADAL" clId="{46C48F18-45AA-4D1E-A69D-E0A5DD93AA51}" dt="2021-10-01T07:38:32.357" v="1" actId="2696"/>
      <pc:docMkLst>
        <pc:docMk/>
      </pc:docMkLst>
      <pc:sldChg chg="add del">
        <pc:chgData name="Venkata Govindu, Mylapally" userId="25097381-72a6-447d-b574-bb19eee588b1" providerId="ADAL" clId="{46C48F18-45AA-4D1E-A69D-E0A5DD93AA51}" dt="2021-10-01T07:38:32.357" v="1" actId="2696"/>
        <pc:sldMkLst>
          <pc:docMk/>
          <pc:sldMk cId="2306886539" sldId="25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B74AFA-B458-4E1E-BCB8-94BDDA6D06B9}" type="datetimeFigureOut">
              <a:rPr lang="en-US" smtClean="0"/>
              <a:pPr/>
              <a:t>10/1/2021</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9247727-C7EB-458C-8FD9-62D6947DAC3A}"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7127A-762C-4020-923E-6C82CEF362E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88CA335-743A-44E4-B4AA-934C541B5BD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E4F9E67-01FE-4E22-B202-7E818B3F3278}"/>
              </a:ext>
            </a:extLst>
          </p:cNvPr>
          <p:cNvSpPr>
            <a:spLocks noGrp="1"/>
          </p:cNvSpPr>
          <p:nvPr>
            <p:ph type="dt" sz="half" idx="10"/>
          </p:nvPr>
        </p:nvSpPr>
        <p:spPr/>
        <p:txBody>
          <a:bodyPr/>
          <a:lstStyle/>
          <a:p>
            <a:fld id="{FB052592-FAD8-45D2-A2B9-BB30DCC1EC0C}" type="datetimeFigureOut">
              <a:rPr lang="en-IN" smtClean="0"/>
              <a:pPr/>
              <a:t>01-10-2021</a:t>
            </a:fld>
            <a:endParaRPr lang="en-IN"/>
          </a:p>
        </p:txBody>
      </p:sp>
      <p:sp>
        <p:nvSpPr>
          <p:cNvPr id="5" name="Footer Placeholder 4">
            <a:extLst>
              <a:ext uri="{FF2B5EF4-FFF2-40B4-BE49-F238E27FC236}">
                <a16:creationId xmlns:a16="http://schemas.microsoft.com/office/drawing/2014/main" id="{4182DBFB-44F4-4C30-B1F6-8ED71E8018B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5AFD238-E2B5-4FE2-9109-08009FF1FEFB}"/>
              </a:ext>
            </a:extLst>
          </p:cNvPr>
          <p:cNvSpPr>
            <a:spLocks noGrp="1"/>
          </p:cNvSpPr>
          <p:nvPr>
            <p:ph type="sldNum" sz="quarter" idx="12"/>
          </p:nvPr>
        </p:nvSpPr>
        <p:spPr/>
        <p:txBody>
          <a:bodyPr/>
          <a:lstStyle/>
          <a:p>
            <a:fld id="{20FE9B45-F8DB-4171-89AC-FBAE30EE769C}" type="slidenum">
              <a:rPr lang="en-IN" smtClean="0"/>
              <a:pPr/>
              <a:t>‹#›</a:t>
            </a:fld>
            <a:endParaRPr lang="en-IN"/>
          </a:p>
        </p:txBody>
      </p:sp>
    </p:spTree>
    <p:extLst>
      <p:ext uri="{BB962C8B-B14F-4D97-AF65-F5344CB8AC3E}">
        <p14:creationId xmlns:p14="http://schemas.microsoft.com/office/powerpoint/2010/main" val="23433493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191D4-C6DA-4C36-8E41-D1214E62039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3DEC469-19EF-4B0A-A0DF-1323AD0737E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264AAF6-1DA9-4936-9F2D-513BFCA45F42}"/>
              </a:ext>
            </a:extLst>
          </p:cNvPr>
          <p:cNvSpPr>
            <a:spLocks noGrp="1"/>
          </p:cNvSpPr>
          <p:nvPr>
            <p:ph type="dt" sz="half" idx="10"/>
          </p:nvPr>
        </p:nvSpPr>
        <p:spPr/>
        <p:txBody>
          <a:bodyPr/>
          <a:lstStyle/>
          <a:p>
            <a:fld id="{FB052592-FAD8-45D2-A2B9-BB30DCC1EC0C}" type="datetimeFigureOut">
              <a:rPr lang="en-IN" smtClean="0"/>
              <a:pPr/>
              <a:t>01-10-2021</a:t>
            </a:fld>
            <a:endParaRPr lang="en-IN"/>
          </a:p>
        </p:txBody>
      </p:sp>
      <p:sp>
        <p:nvSpPr>
          <p:cNvPr id="5" name="Footer Placeholder 4">
            <a:extLst>
              <a:ext uri="{FF2B5EF4-FFF2-40B4-BE49-F238E27FC236}">
                <a16:creationId xmlns:a16="http://schemas.microsoft.com/office/drawing/2014/main" id="{B8F7A421-74AC-4F6C-848D-D7E6D8EEDAF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330D7AF-6157-449B-B868-305A57D6AB37}"/>
              </a:ext>
            </a:extLst>
          </p:cNvPr>
          <p:cNvSpPr>
            <a:spLocks noGrp="1"/>
          </p:cNvSpPr>
          <p:nvPr>
            <p:ph type="sldNum" sz="quarter" idx="12"/>
          </p:nvPr>
        </p:nvSpPr>
        <p:spPr/>
        <p:txBody>
          <a:bodyPr/>
          <a:lstStyle/>
          <a:p>
            <a:fld id="{20FE9B45-F8DB-4171-89AC-FBAE30EE769C}" type="slidenum">
              <a:rPr lang="en-IN" smtClean="0"/>
              <a:pPr/>
              <a:t>‹#›</a:t>
            </a:fld>
            <a:endParaRPr lang="en-IN"/>
          </a:p>
        </p:txBody>
      </p:sp>
    </p:spTree>
    <p:extLst>
      <p:ext uri="{BB962C8B-B14F-4D97-AF65-F5344CB8AC3E}">
        <p14:creationId xmlns:p14="http://schemas.microsoft.com/office/powerpoint/2010/main" val="2779763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307E93-97CC-4042-B933-0B31109A969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6F21450-8F5D-474D-A57B-9A7394EB38B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E57F774-4040-466E-B14C-7A9308ADD55D}"/>
              </a:ext>
            </a:extLst>
          </p:cNvPr>
          <p:cNvSpPr>
            <a:spLocks noGrp="1"/>
          </p:cNvSpPr>
          <p:nvPr>
            <p:ph type="dt" sz="half" idx="10"/>
          </p:nvPr>
        </p:nvSpPr>
        <p:spPr/>
        <p:txBody>
          <a:bodyPr/>
          <a:lstStyle/>
          <a:p>
            <a:fld id="{FB052592-FAD8-45D2-A2B9-BB30DCC1EC0C}" type="datetimeFigureOut">
              <a:rPr lang="en-IN" smtClean="0"/>
              <a:pPr/>
              <a:t>01-10-2021</a:t>
            </a:fld>
            <a:endParaRPr lang="en-IN"/>
          </a:p>
        </p:txBody>
      </p:sp>
      <p:sp>
        <p:nvSpPr>
          <p:cNvPr id="5" name="Footer Placeholder 4">
            <a:extLst>
              <a:ext uri="{FF2B5EF4-FFF2-40B4-BE49-F238E27FC236}">
                <a16:creationId xmlns:a16="http://schemas.microsoft.com/office/drawing/2014/main" id="{1090C581-67DB-488B-91E3-0D230A21E2C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A454C23-690F-4069-AEA5-E0AB7D99FCEA}"/>
              </a:ext>
            </a:extLst>
          </p:cNvPr>
          <p:cNvSpPr>
            <a:spLocks noGrp="1"/>
          </p:cNvSpPr>
          <p:nvPr>
            <p:ph type="sldNum" sz="quarter" idx="12"/>
          </p:nvPr>
        </p:nvSpPr>
        <p:spPr/>
        <p:txBody>
          <a:bodyPr/>
          <a:lstStyle/>
          <a:p>
            <a:fld id="{20FE9B45-F8DB-4171-89AC-FBAE30EE769C}" type="slidenum">
              <a:rPr lang="en-IN" smtClean="0"/>
              <a:pPr/>
              <a:t>‹#›</a:t>
            </a:fld>
            <a:endParaRPr lang="en-IN"/>
          </a:p>
        </p:txBody>
      </p:sp>
    </p:spTree>
    <p:extLst>
      <p:ext uri="{BB962C8B-B14F-4D97-AF65-F5344CB8AC3E}">
        <p14:creationId xmlns:p14="http://schemas.microsoft.com/office/powerpoint/2010/main" val="33524589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7FB4F7-C07A-45F0-87CC-20A97B79DA7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144D076-15A7-411B-870B-69B6886D832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AEB8FF8-3F20-40B0-8453-781BE1149A7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DDCAD03-F6C9-4479-92F3-D849E1E567B3}"/>
              </a:ext>
            </a:extLst>
          </p:cNvPr>
          <p:cNvSpPr>
            <a:spLocks noGrp="1"/>
          </p:cNvSpPr>
          <p:nvPr>
            <p:ph type="dt" sz="half" idx="10"/>
          </p:nvPr>
        </p:nvSpPr>
        <p:spPr/>
        <p:txBody>
          <a:bodyPr/>
          <a:lstStyle/>
          <a:p>
            <a:fld id="{FB052592-FAD8-45D2-A2B9-BB30DCC1EC0C}" type="datetimeFigureOut">
              <a:rPr lang="en-IN" smtClean="0"/>
              <a:pPr/>
              <a:t>01-10-2021</a:t>
            </a:fld>
            <a:endParaRPr lang="en-IN"/>
          </a:p>
        </p:txBody>
      </p:sp>
      <p:sp>
        <p:nvSpPr>
          <p:cNvPr id="6" name="Footer Placeholder 5">
            <a:extLst>
              <a:ext uri="{FF2B5EF4-FFF2-40B4-BE49-F238E27FC236}">
                <a16:creationId xmlns:a16="http://schemas.microsoft.com/office/drawing/2014/main" id="{35048EAD-F621-4F83-A9DE-ADC7ED5401D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DBB90D8-71B6-4FEC-94D4-BA059BC6F4A2}"/>
              </a:ext>
            </a:extLst>
          </p:cNvPr>
          <p:cNvSpPr>
            <a:spLocks noGrp="1"/>
          </p:cNvSpPr>
          <p:nvPr>
            <p:ph type="sldNum" sz="quarter" idx="12"/>
          </p:nvPr>
        </p:nvSpPr>
        <p:spPr/>
        <p:txBody>
          <a:bodyPr/>
          <a:lstStyle/>
          <a:p>
            <a:fld id="{20FE9B45-F8DB-4171-89AC-FBAE30EE769C}" type="slidenum">
              <a:rPr lang="en-IN" smtClean="0"/>
              <a:pPr/>
              <a:t>‹#›</a:t>
            </a:fld>
            <a:endParaRPr lang="en-IN"/>
          </a:p>
        </p:txBody>
      </p:sp>
    </p:spTree>
    <p:extLst>
      <p:ext uri="{BB962C8B-B14F-4D97-AF65-F5344CB8AC3E}">
        <p14:creationId xmlns:p14="http://schemas.microsoft.com/office/powerpoint/2010/main" val="2096856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79887-88A7-42DD-A26E-F9E726F5986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E96B8DE-E186-403C-9CD9-DD13A32D4C8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D1BCB3-FB3B-4406-A68A-5A55C88A39C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DAE64FD-A51C-4D40-9C1C-02D61733720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A6B6530-0EBC-499B-B81D-2F50A470D7D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AD922D9-AA37-475E-917F-0AE38388C9F0}"/>
              </a:ext>
            </a:extLst>
          </p:cNvPr>
          <p:cNvSpPr>
            <a:spLocks noGrp="1"/>
          </p:cNvSpPr>
          <p:nvPr>
            <p:ph type="dt" sz="half" idx="10"/>
          </p:nvPr>
        </p:nvSpPr>
        <p:spPr/>
        <p:txBody>
          <a:bodyPr/>
          <a:lstStyle/>
          <a:p>
            <a:fld id="{FB052592-FAD8-45D2-A2B9-BB30DCC1EC0C}" type="datetimeFigureOut">
              <a:rPr lang="en-IN" smtClean="0"/>
              <a:pPr/>
              <a:t>01-10-2021</a:t>
            </a:fld>
            <a:endParaRPr lang="en-IN"/>
          </a:p>
        </p:txBody>
      </p:sp>
      <p:sp>
        <p:nvSpPr>
          <p:cNvPr id="8" name="Footer Placeholder 7">
            <a:extLst>
              <a:ext uri="{FF2B5EF4-FFF2-40B4-BE49-F238E27FC236}">
                <a16:creationId xmlns:a16="http://schemas.microsoft.com/office/drawing/2014/main" id="{FC6EAD91-0A8D-4C5B-BC23-B81E1A587EE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C07D560-B8D7-49B8-8B54-25F02630D16E}"/>
              </a:ext>
            </a:extLst>
          </p:cNvPr>
          <p:cNvSpPr>
            <a:spLocks noGrp="1"/>
          </p:cNvSpPr>
          <p:nvPr>
            <p:ph type="sldNum" sz="quarter" idx="12"/>
          </p:nvPr>
        </p:nvSpPr>
        <p:spPr/>
        <p:txBody>
          <a:bodyPr/>
          <a:lstStyle/>
          <a:p>
            <a:fld id="{20FE9B45-F8DB-4171-89AC-FBAE30EE769C}" type="slidenum">
              <a:rPr lang="en-IN" smtClean="0"/>
              <a:pPr/>
              <a:t>‹#›</a:t>
            </a:fld>
            <a:endParaRPr lang="en-IN"/>
          </a:p>
        </p:txBody>
      </p:sp>
    </p:spTree>
    <p:extLst>
      <p:ext uri="{BB962C8B-B14F-4D97-AF65-F5344CB8AC3E}">
        <p14:creationId xmlns:p14="http://schemas.microsoft.com/office/powerpoint/2010/main" val="30544456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18C13-496B-41B3-9270-F0F1EFA9E96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8C0480C-9BD2-4DF5-ABB2-EEF73B1EF82B}"/>
              </a:ext>
            </a:extLst>
          </p:cNvPr>
          <p:cNvSpPr>
            <a:spLocks noGrp="1"/>
          </p:cNvSpPr>
          <p:nvPr>
            <p:ph type="dt" sz="half" idx="10"/>
          </p:nvPr>
        </p:nvSpPr>
        <p:spPr/>
        <p:txBody>
          <a:bodyPr/>
          <a:lstStyle/>
          <a:p>
            <a:fld id="{FB052592-FAD8-45D2-A2B9-BB30DCC1EC0C}" type="datetimeFigureOut">
              <a:rPr lang="en-IN" smtClean="0"/>
              <a:pPr/>
              <a:t>01-10-2021</a:t>
            </a:fld>
            <a:endParaRPr lang="en-IN"/>
          </a:p>
        </p:txBody>
      </p:sp>
      <p:sp>
        <p:nvSpPr>
          <p:cNvPr id="4" name="Footer Placeholder 3">
            <a:extLst>
              <a:ext uri="{FF2B5EF4-FFF2-40B4-BE49-F238E27FC236}">
                <a16:creationId xmlns:a16="http://schemas.microsoft.com/office/drawing/2014/main" id="{2EE8D9E9-54A7-4907-B534-C71BBACE40E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397F95F-BAE5-41E1-BCF0-7C52C7F4967A}"/>
              </a:ext>
            </a:extLst>
          </p:cNvPr>
          <p:cNvSpPr>
            <a:spLocks noGrp="1"/>
          </p:cNvSpPr>
          <p:nvPr>
            <p:ph type="sldNum" sz="quarter" idx="12"/>
          </p:nvPr>
        </p:nvSpPr>
        <p:spPr/>
        <p:txBody>
          <a:bodyPr/>
          <a:lstStyle/>
          <a:p>
            <a:fld id="{20FE9B45-F8DB-4171-89AC-FBAE30EE769C}" type="slidenum">
              <a:rPr lang="en-IN" smtClean="0"/>
              <a:pPr/>
              <a:t>‹#›</a:t>
            </a:fld>
            <a:endParaRPr lang="en-IN"/>
          </a:p>
        </p:txBody>
      </p:sp>
    </p:spTree>
    <p:extLst>
      <p:ext uri="{BB962C8B-B14F-4D97-AF65-F5344CB8AC3E}">
        <p14:creationId xmlns:p14="http://schemas.microsoft.com/office/powerpoint/2010/main" val="40159392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1CCC3C5-0141-48B9-B1E5-E662A2FB9622}"/>
              </a:ext>
            </a:extLst>
          </p:cNvPr>
          <p:cNvSpPr>
            <a:spLocks noGrp="1"/>
          </p:cNvSpPr>
          <p:nvPr>
            <p:ph type="dt" sz="half" idx="10"/>
          </p:nvPr>
        </p:nvSpPr>
        <p:spPr/>
        <p:txBody>
          <a:bodyPr/>
          <a:lstStyle/>
          <a:p>
            <a:fld id="{FB052592-FAD8-45D2-A2B9-BB30DCC1EC0C}" type="datetimeFigureOut">
              <a:rPr lang="en-IN" smtClean="0"/>
              <a:pPr/>
              <a:t>01-10-2021</a:t>
            </a:fld>
            <a:endParaRPr lang="en-IN"/>
          </a:p>
        </p:txBody>
      </p:sp>
      <p:sp>
        <p:nvSpPr>
          <p:cNvPr id="3" name="Footer Placeholder 2">
            <a:extLst>
              <a:ext uri="{FF2B5EF4-FFF2-40B4-BE49-F238E27FC236}">
                <a16:creationId xmlns:a16="http://schemas.microsoft.com/office/drawing/2014/main" id="{0F2CC1B5-63EA-4669-ABE0-CF24917A2A8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E58CE31-B8F1-4848-8B05-ACFFAE257C77}"/>
              </a:ext>
            </a:extLst>
          </p:cNvPr>
          <p:cNvSpPr>
            <a:spLocks noGrp="1"/>
          </p:cNvSpPr>
          <p:nvPr>
            <p:ph type="sldNum" sz="quarter" idx="12"/>
          </p:nvPr>
        </p:nvSpPr>
        <p:spPr/>
        <p:txBody>
          <a:bodyPr/>
          <a:lstStyle/>
          <a:p>
            <a:fld id="{20FE9B45-F8DB-4171-89AC-FBAE30EE769C}" type="slidenum">
              <a:rPr lang="en-IN" smtClean="0"/>
              <a:pPr/>
              <a:t>‹#›</a:t>
            </a:fld>
            <a:endParaRPr lang="en-IN"/>
          </a:p>
        </p:txBody>
      </p:sp>
    </p:spTree>
    <p:extLst>
      <p:ext uri="{BB962C8B-B14F-4D97-AF65-F5344CB8AC3E}">
        <p14:creationId xmlns:p14="http://schemas.microsoft.com/office/powerpoint/2010/main" val="919617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8F6BC-458C-4A85-B86B-EEA2B27A9B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2B6DFC0-679D-4A35-8236-C5F21A1E8A3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9B6936A-9F48-4A1E-BF74-49393FCC76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94C212-5C80-46EB-933C-60F498E18CFD}"/>
              </a:ext>
            </a:extLst>
          </p:cNvPr>
          <p:cNvSpPr>
            <a:spLocks noGrp="1"/>
          </p:cNvSpPr>
          <p:nvPr>
            <p:ph type="dt" sz="half" idx="10"/>
          </p:nvPr>
        </p:nvSpPr>
        <p:spPr/>
        <p:txBody>
          <a:bodyPr/>
          <a:lstStyle/>
          <a:p>
            <a:fld id="{FB052592-FAD8-45D2-A2B9-BB30DCC1EC0C}" type="datetimeFigureOut">
              <a:rPr lang="en-IN" smtClean="0"/>
              <a:pPr/>
              <a:t>01-10-2021</a:t>
            </a:fld>
            <a:endParaRPr lang="en-IN"/>
          </a:p>
        </p:txBody>
      </p:sp>
      <p:sp>
        <p:nvSpPr>
          <p:cNvPr id="6" name="Footer Placeholder 5">
            <a:extLst>
              <a:ext uri="{FF2B5EF4-FFF2-40B4-BE49-F238E27FC236}">
                <a16:creationId xmlns:a16="http://schemas.microsoft.com/office/drawing/2014/main" id="{E924CEB1-E862-44BD-971D-9C496FFA817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9DFC425-FFDE-410E-BA04-DC68E9ABBA60}"/>
              </a:ext>
            </a:extLst>
          </p:cNvPr>
          <p:cNvSpPr>
            <a:spLocks noGrp="1"/>
          </p:cNvSpPr>
          <p:nvPr>
            <p:ph type="sldNum" sz="quarter" idx="12"/>
          </p:nvPr>
        </p:nvSpPr>
        <p:spPr/>
        <p:txBody>
          <a:bodyPr/>
          <a:lstStyle/>
          <a:p>
            <a:fld id="{20FE9B45-F8DB-4171-89AC-FBAE30EE769C}" type="slidenum">
              <a:rPr lang="en-IN" smtClean="0"/>
              <a:pPr/>
              <a:t>‹#›</a:t>
            </a:fld>
            <a:endParaRPr lang="en-IN"/>
          </a:p>
        </p:txBody>
      </p:sp>
    </p:spTree>
    <p:extLst>
      <p:ext uri="{BB962C8B-B14F-4D97-AF65-F5344CB8AC3E}">
        <p14:creationId xmlns:p14="http://schemas.microsoft.com/office/powerpoint/2010/main" val="38415101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B88CEB-26FD-477A-A895-1FB6690AF18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4456995-2291-48CB-9FE8-D4AEF20EB9C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9D00138-A0CE-45BB-A6AC-D797D1929C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B1D0F6B-EC4F-4A51-B1D2-5A76794B1EAD}"/>
              </a:ext>
            </a:extLst>
          </p:cNvPr>
          <p:cNvSpPr>
            <a:spLocks noGrp="1"/>
          </p:cNvSpPr>
          <p:nvPr>
            <p:ph type="dt" sz="half" idx="10"/>
          </p:nvPr>
        </p:nvSpPr>
        <p:spPr/>
        <p:txBody>
          <a:bodyPr/>
          <a:lstStyle/>
          <a:p>
            <a:fld id="{FB052592-FAD8-45D2-A2B9-BB30DCC1EC0C}" type="datetimeFigureOut">
              <a:rPr lang="en-IN" smtClean="0"/>
              <a:pPr/>
              <a:t>01-10-2021</a:t>
            </a:fld>
            <a:endParaRPr lang="en-IN"/>
          </a:p>
        </p:txBody>
      </p:sp>
      <p:sp>
        <p:nvSpPr>
          <p:cNvPr id="6" name="Footer Placeholder 5">
            <a:extLst>
              <a:ext uri="{FF2B5EF4-FFF2-40B4-BE49-F238E27FC236}">
                <a16:creationId xmlns:a16="http://schemas.microsoft.com/office/drawing/2014/main" id="{F3E77157-B0D2-4CAE-8344-C2BF33CAB5A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B80A416-4A53-427F-95A6-E5587C82CD43}"/>
              </a:ext>
            </a:extLst>
          </p:cNvPr>
          <p:cNvSpPr>
            <a:spLocks noGrp="1"/>
          </p:cNvSpPr>
          <p:nvPr>
            <p:ph type="sldNum" sz="quarter" idx="12"/>
          </p:nvPr>
        </p:nvSpPr>
        <p:spPr/>
        <p:txBody>
          <a:bodyPr/>
          <a:lstStyle/>
          <a:p>
            <a:fld id="{20FE9B45-F8DB-4171-89AC-FBAE30EE769C}" type="slidenum">
              <a:rPr lang="en-IN" smtClean="0"/>
              <a:pPr/>
              <a:t>‹#›</a:t>
            </a:fld>
            <a:endParaRPr lang="en-IN"/>
          </a:p>
        </p:txBody>
      </p:sp>
    </p:spTree>
    <p:extLst>
      <p:ext uri="{BB962C8B-B14F-4D97-AF65-F5344CB8AC3E}">
        <p14:creationId xmlns:p14="http://schemas.microsoft.com/office/powerpoint/2010/main" val="734134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3762D-4B0F-437F-8B5D-BBD77B3753B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76FB74F-5F08-48F9-9C02-6AAE68C826C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D7FF6CA-D22E-4E0F-8658-BC2566CC1701}"/>
              </a:ext>
            </a:extLst>
          </p:cNvPr>
          <p:cNvSpPr>
            <a:spLocks noGrp="1"/>
          </p:cNvSpPr>
          <p:nvPr>
            <p:ph type="dt" sz="half" idx="10"/>
          </p:nvPr>
        </p:nvSpPr>
        <p:spPr/>
        <p:txBody>
          <a:bodyPr/>
          <a:lstStyle/>
          <a:p>
            <a:fld id="{FB052592-FAD8-45D2-A2B9-BB30DCC1EC0C}" type="datetimeFigureOut">
              <a:rPr lang="en-IN" smtClean="0"/>
              <a:pPr/>
              <a:t>01-10-2021</a:t>
            </a:fld>
            <a:endParaRPr lang="en-IN"/>
          </a:p>
        </p:txBody>
      </p:sp>
      <p:sp>
        <p:nvSpPr>
          <p:cNvPr id="5" name="Footer Placeholder 4">
            <a:extLst>
              <a:ext uri="{FF2B5EF4-FFF2-40B4-BE49-F238E27FC236}">
                <a16:creationId xmlns:a16="http://schemas.microsoft.com/office/drawing/2014/main" id="{251333B8-86EA-4722-8439-01DF5ADE9B8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F0AC259-85AA-4F25-ADF4-A18531486D8D}"/>
              </a:ext>
            </a:extLst>
          </p:cNvPr>
          <p:cNvSpPr>
            <a:spLocks noGrp="1"/>
          </p:cNvSpPr>
          <p:nvPr>
            <p:ph type="sldNum" sz="quarter" idx="12"/>
          </p:nvPr>
        </p:nvSpPr>
        <p:spPr/>
        <p:txBody>
          <a:bodyPr/>
          <a:lstStyle/>
          <a:p>
            <a:fld id="{20FE9B45-F8DB-4171-89AC-FBAE30EE769C}" type="slidenum">
              <a:rPr lang="en-IN" smtClean="0"/>
              <a:pPr/>
              <a:t>‹#›</a:t>
            </a:fld>
            <a:endParaRPr lang="en-IN"/>
          </a:p>
        </p:txBody>
      </p:sp>
    </p:spTree>
    <p:extLst>
      <p:ext uri="{BB962C8B-B14F-4D97-AF65-F5344CB8AC3E}">
        <p14:creationId xmlns:p14="http://schemas.microsoft.com/office/powerpoint/2010/main" val="29330180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326A5FF-6D75-4EC0-A626-3067D4B11E4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8855F88-21E4-4E63-8E23-38BF06DCF26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DF413DC-EEF3-415A-AE4D-BDC5774FDAFE}"/>
              </a:ext>
            </a:extLst>
          </p:cNvPr>
          <p:cNvSpPr>
            <a:spLocks noGrp="1"/>
          </p:cNvSpPr>
          <p:nvPr>
            <p:ph type="dt" sz="half" idx="10"/>
          </p:nvPr>
        </p:nvSpPr>
        <p:spPr/>
        <p:txBody>
          <a:bodyPr/>
          <a:lstStyle/>
          <a:p>
            <a:fld id="{FB052592-FAD8-45D2-A2B9-BB30DCC1EC0C}" type="datetimeFigureOut">
              <a:rPr lang="en-IN" smtClean="0"/>
              <a:pPr/>
              <a:t>01-10-2021</a:t>
            </a:fld>
            <a:endParaRPr lang="en-IN"/>
          </a:p>
        </p:txBody>
      </p:sp>
      <p:sp>
        <p:nvSpPr>
          <p:cNvPr id="5" name="Footer Placeholder 4">
            <a:extLst>
              <a:ext uri="{FF2B5EF4-FFF2-40B4-BE49-F238E27FC236}">
                <a16:creationId xmlns:a16="http://schemas.microsoft.com/office/drawing/2014/main" id="{2F4F1227-2E91-4062-9BDE-959DB220900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EB2A6AB-6F15-4B77-8511-CCE0AC42AACB}"/>
              </a:ext>
            </a:extLst>
          </p:cNvPr>
          <p:cNvSpPr>
            <a:spLocks noGrp="1"/>
          </p:cNvSpPr>
          <p:nvPr>
            <p:ph type="sldNum" sz="quarter" idx="12"/>
          </p:nvPr>
        </p:nvSpPr>
        <p:spPr/>
        <p:txBody>
          <a:bodyPr/>
          <a:lstStyle/>
          <a:p>
            <a:fld id="{20FE9B45-F8DB-4171-89AC-FBAE30EE769C}" type="slidenum">
              <a:rPr lang="en-IN" smtClean="0"/>
              <a:pPr/>
              <a:t>‹#›</a:t>
            </a:fld>
            <a:endParaRPr lang="en-IN"/>
          </a:p>
        </p:txBody>
      </p:sp>
    </p:spTree>
    <p:extLst>
      <p:ext uri="{BB962C8B-B14F-4D97-AF65-F5344CB8AC3E}">
        <p14:creationId xmlns:p14="http://schemas.microsoft.com/office/powerpoint/2010/main" val="19099806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DE7B1B2-5BFF-480E-A66A-DD45B624E48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06949D3-96A9-4B68-98C0-581F3E39514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44CE081-1014-4648-9852-8F3ADB3D207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B052592-FAD8-45D2-A2B9-BB30DCC1EC0C}" type="datetimeFigureOut">
              <a:rPr lang="en-IN" smtClean="0"/>
              <a:pPr/>
              <a:t>01-10-2021</a:t>
            </a:fld>
            <a:endParaRPr lang="en-IN"/>
          </a:p>
        </p:txBody>
      </p:sp>
      <p:sp>
        <p:nvSpPr>
          <p:cNvPr id="5" name="Footer Placeholder 4">
            <a:extLst>
              <a:ext uri="{FF2B5EF4-FFF2-40B4-BE49-F238E27FC236}">
                <a16:creationId xmlns:a16="http://schemas.microsoft.com/office/drawing/2014/main" id="{82D3E624-B296-4578-8915-46FD2E5A117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0D5B50C-6219-400B-AF7C-3FB3C50AF3B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FE9B45-F8DB-4171-89AC-FBAE30EE769C}" type="slidenum">
              <a:rPr lang="en-IN" smtClean="0"/>
              <a:pPr/>
              <a:t>‹#›</a:t>
            </a:fld>
            <a:endParaRPr lang="en-IN"/>
          </a:p>
        </p:txBody>
      </p:sp>
    </p:spTree>
    <p:extLst>
      <p:ext uri="{BB962C8B-B14F-4D97-AF65-F5344CB8AC3E}">
        <p14:creationId xmlns:p14="http://schemas.microsoft.com/office/powerpoint/2010/main" val="32340383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jpeg"/></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491A5A1-E449-44CE-A346-86EE781B6E9C}"/>
              </a:ext>
            </a:extLst>
          </p:cNvPr>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p:wipe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BE35DFD-8F39-48DA-AABF-F61651B817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2556162" y="-2777838"/>
            <a:ext cx="7079672" cy="12192003"/>
          </a:xfrm>
          <a:prstGeom prst="rect">
            <a:avLst/>
          </a:prstGeom>
        </p:spPr>
      </p:pic>
      <p:sp>
        <p:nvSpPr>
          <p:cNvPr id="8" name="TextBox 7"/>
          <p:cNvSpPr txBox="1"/>
          <p:nvPr/>
        </p:nvSpPr>
        <p:spPr>
          <a:xfrm>
            <a:off x="-14288" y="-254675"/>
            <a:ext cx="12192000" cy="6617196"/>
          </a:xfrm>
          <a:prstGeom prst="rect">
            <a:avLst/>
          </a:prstGeom>
          <a:noFill/>
        </p:spPr>
        <p:txBody>
          <a:bodyPr wrap="square" rtlCol="0">
            <a:spAutoFit/>
          </a:bodyPr>
          <a:lstStyle/>
          <a:p>
            <a:r>
              <a:rPr lang="en-US" sz="6000" b="1" dirty="0">
                <a:solidFill>
                  <a:schemeClr val="accent4"/>
                </a:solidFill>
                <a:latin typeface="Stencil" panose="040409050D0802020404" pitchFamily="82" charset="0"/>
                <a:cs typeface="Times New Roman" panose="02020603050405020304" pitchFamily="18" charset="0"/>
              </a:rPr>
              <a:t> </a:t>
            </a:r>
          </a:p>
          <a:p>
            <a:endParaRPr lang="en-US" sz="6000" b="1" dirty="0">
              <a:solidFill>
                <a:schemeClr val="accent4"/>
              </a:solidFill>
              <a:latin typeface="Stencil" panose="040409050D0802020404" pitchFamily="82" charset="0"/>
              <a:cs typeface="Times New Roman" panose="02020603050405020304" pitchFamily="18" charset="0"/>
            </a:endParaRPr>
          </a:p>
          <a:p>
            <a:r>
              <a:rPr lang="en-US" sz="6000" b="1" dirty="0">
                <a:solidFill>
                  <a:schemeClr val="accent4"/>
                </a:solidFill>
                <a:latin typeface="Stencil" panose="040409050D0802020404" pitchFamily="82" charset="0"/>
                <a:cs typeface="Times New Roman" panose="02020603050405020304" pitchFamily="18" charset="0"/>
              </a:rPr>
              <a:t> AN OVERVIEW ON</a:t>
            </a:r>
          </a:p>
          <a:p>
            <a:r>
              <a:rPr lang="en-US" sz="6000" b="1" dirty="0">
                <a:solidFill>
                  <a:schemeClr val="accent4"/>
                </a:solidFill>
                <a:latin typeface="Stencil" panose="040409050D0802020404" pitchFamily="82" charset="0"/>
                <a:cs typeface="Times New Roman" panose="02020603050405020304" pitchFamily="18" charset="0"/>
              </a:rPr>
              <a:t>          NANOTECHNOLOGY</a:t>
            </a:r>
          </a:p>
          <a:p>
            <a:r>
              <a:rPr lang="en-IN" sz="3200" b="1" dirty="0">
                <a:solidFill>
                  <a:schemeClr val="accent4"/>
                </a:solidFill>
                <a:latin typeface="Times New Roman" panose="02020603050405020304" pitchFamily="18" charset="0"/>
                <a:cs typeface="Times New Roman" panose="02020603050405020304" pitchFamily="18" charset="0"/>
              </a:rPr>
              <a:t>                									    </a:t>
            </a:r>
          </a:p>
          <a:p>
            <a:endParaRPr lang="en-IN" sz="3200" b="1" dirty="0">
              <a:solidFill>
                <a:schemeClr val="accent4"/>
              </a:solidFill>
              <a:latin typeface="Times New Roman" panose="02020603050405020304" pitchFamily="18" charset="0"/>
              <a:cs typeface="Times New Roman" panose="02020603050405020304" pitchFamily="18" charset="0"/>
            </a:endParaRPr>
          </a:p>
          <a:p>
            <a:r>
              <a:rPr lang="en-IN" sz="3200" b="1" dirty="0">
                <a:solidFill>
                  <a:schemeClr val="accent4"/>
                </a:solidFill>
                <a:latin typeface="Times New Roman" panose="02020603050405020304" pitchFamily="18" charset="0"/>
                <a:cs typeface="Times New Roman" panose="02020603050405020304" pitchFamily="18" charset="0"/>
              </a:rPr>
              <a:t>										    </a:t>
            </a:r>
          </a:p>
          <a:p>
            <a:r>
              <a:rPr lang="en-IN" sz="3200" b="1" dirty="0">
                <a:solidFill>
                  <a:schemeClr val="accent4"/>
                </a:solidFill>
                <a:latin typeface="Times New Roman" panose="02020603050405020304" pitchFamily="18" charset="0"/>
                <a:cs typeface="Times New Roman" panose="02020603050405020304" pitchFamily="18" charset="0"/>
              </a:rPr>
              <a:t>										</a:t>
            </a:r>
            <a:r>
              <a:rPr lang="en-IN" sz="2800" dirty="0">
                <a:solidFill>
                  <a:schemeClr val="accent4"/>
                </a:solidFill>
                <a:latin typeface="Viner Hand ITC" panose="03070502030502020203" pitchFamily="66" charset="0"/>
                <a:cs typeface="Times New Roman" panose="02020603050405020304" pitchFamily="18" charset="0"/>
              </a:rPr>
              <a:t>Conferred by</a:t>
            </a:r>
          </a:p>
          <a:p>
            <a:pPr algn="ctr"/>
            <a:r>
              <a:rPr lang="en-IN" sz="2800" dirty="0">
                <a:solidFill>
                  <a:schemeClr val="accent4"/>
                </a:solidFill>
                <a:latin typeface="Viner Hand ITC" panose="03070502030502020203" pitchFamily="66" charset="0"/>
                <a:cs typeface="Times New Roman" panose="02020603050405020304" pitchFamily="18" charset="0"/>
              </a:rPr>
              <a:t>                                                                                                     M.V.Govin</a:t>
            </a:r>
            <a:r>
              <a:rPr lang="en-IN" sz="2800" dirty="0">
                <a:solidFill>
                  <a:schemeClr val="accent4"/>
                </a:solidFill>
                <a:latin typeface="Tempus Sans ITC" panose="04020404030D07020202" pitchFamily="82" charset="0"/>
                <a:cs typeface="Times New Roman" panose="02020603050405020304" pitchFamily="18" charset="0"/>
              </a:rPr>
              <a:t>d</a:t>
            </a:r>
          </a:p>
          <a:p>
            <a:endParaRPr 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with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checkerboard(across)">
                                      <p:cBhvr>
                                        <p:cTn id="7" dur="1000"/>
                                        <p:tgtEl>
                                          <p:spTgt spid="8">
                                            <p:txEl>
                                              <p:pRg st="2" end="2"/>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8">
                                            <p:txEl>
                                              <p:pRg st="3" end="3"/>
                                            </p:txEl>
                                          </p:spTgt>
                                        </p:tgtEl>
                                        <p:attrNameLst>
                                          <p:attrName>style.visibility</p:attrName>
                                        </p:attrNameLst>
                                      </p:cBhvr>
                                      <p:to>
                                        <p:strVal val="visible"/>
                                      </p:to>
                                    </p:set>
                                    <p:animEffect transition="in" filter="checkerboard(across)">
                                      <p:cBhvr>
                                        <p:cTn id="10" dur="1000"/>
                                        <p:tgtEl>
                                          <p:spTgt spid="8">
                                            <p:txEl>
                                              <p:pRg st="3" end="3"/>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8">
                                            <p:txEl>
                                              <p:pRg st="6" end="6"/>
                                            </p:txEl>
                                          </p:spTgt>
                                        </p:tgtEl>
                                        <p:attrNameLst>
                                          <p:attrName>style.visibility</p:attrName>
                                        </p:attrNameLst>
                                      </p:cBhvr>
                                      <p:to>
                                        <p:strVal val="visible"/>
                                      </p:to>
                                    </p:set>
                                    <p:animEffect transition="in" filter="wipe(down)">
                                      <p:cBhvr>
                                        <p:cTn id="13" dur="1000"/>
                                        <p:tgtEl>
                                          <p:spTgt spid="8">
                                            <p:txEl>
                                              <p:pRg st="6" end="6"/>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8">
                                            <p:txEl>
                                              <p:pRg st="7" end="7"/>
                                            </p:txEl>
                                          </p:spTgt>
                                        </p:tgtEl>
                                        <p:attrNameLst>
                                          <p:attrName>style.visibility</p:attrName>
                                        </p:attrNameLst>
                                      </p:cBhvr>
                                      <p:to>
                                        <p:strVal val="visible"/>
                                      </p:to>
                                    </p:set>
                                    <p:animEffect transition="in" filter="wipe(down)">
                                      <p:cBhvr>
                                        <p:cTn id="16" dur="1000"/>
                                        <p:tgtEl>
                                          <p:spTgt spid="8">
                                            <p:txEl>
                                              <p:pRg st="7" end="7"/>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8">
                                            <p:txEl>
                                              <p:pRg st="8" end="8"/>
                                            </p:txEl>
                                          </p:spTgt>
                                        </p:tgtEl>
                                        <p:attrNameLst>
                                          <p:attrName>style.visibility</p:attrName>
                                        </p:attrNameLst>
                                      </p:cBhvr>
                                      <p:to>
                                        <p:strVal val="visible"/>
                                      </p:to>
                                    </p:set>
                                    <p:animEffect transition="in" filter="wipe(down)">
                                      <p:cBhvr>
                                        <p:cTn id="19" dur="1000"/>
                                        <p:tgtEl>
                                          <p:spTgt spid="8">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E467DE7-7DBE-43EE-8178-2D0754E0A7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1"/>
          </a:xfrm>
          <a:prstGeom prst="rect">
            <a:avLst/>
          </a:prstGeom>
        </p:spPr>
      </p:pic>
      <p:sp>
        <p:nvSpPr>
          <p:cNvPr id="6" name="Rectangle 5">
            <a:extLst>
              <a:ext uri="{FF2B5EF4-FFF2-40B4-BE49-F238E27FC236}">
                <a16:creationId xmlns:a16="http://schemas.microsoft.com/office/drawing/2014/main" id="{28B601F9-2DA4-4EB9-8395-E6C760A0B904}"/>
              </a:ext>
            </a:extLst>
          </p:cNvPr>
          <p:cNvSpPr/>
          <p:nvPr/>
        </p:nvSpPr>
        <p:spPr>
          <a:xfrm>
            <a:off x="2886366" y="13855"/>
            <a:ext cx="5135417" cy="5724644"/>
          </a:xfrm>
          <a:prstGeom prst="rect">
            <a:avLst/>
          </a:prstGeom>
        </p:spPr>
        <p:txBody>
          <a:bodyPr wrap="square">
            <a:spAutoFit/>
          </a:bodyPr>
          <a:lstStyle/>
          <a:p>
            <a:r>
              <a:rPr lang="en-US" sz="3600" b="1" dirty="0">
                <a:solidFill>
                  <a:schemeClr val="bg1"/>
                </a:solidFill>
                <a:latin typeface="Times New Roman" panose="02020603050405020304" pitchFamily="18" charset="0"/>
                <a:cs typeface="Times New Roman" panose="02020603050405020304" pitchFamily="18" charset="0"/>
              </a:rPr>
              <a:t>CONTENTS:</a:t>
            </a:r>
            <a:endParaRPr lang="en-US" sz="2800" b="1" dirty="0">
              <a:solidFill>
                <a:schemeClr val="bg1"/>
              </a:solidFill>
              <a:latin typeface="Times New Roman" panose="02020603050405020304" pitchFamily="18" charset="0"/>
              <a:cs typeface="Times New Roman" panose="02020603050405020304" pitchFamily="18" charset="0"/>
            </a:endParaRPr>
          </a:p>
          <a:p>
            <a:endParaRPr lang="en-IN" dirty="0">
              <a:solidFill>
                <a:schemeClr val="bg1"/>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IN" sz="2400" dirty="0">
                <a:solidFill>
                  <a:schemeClr val="bg1"/>
                </a:solidFill>
                <a:latin typeface="Times New Roman" panose="02020603050405020304" pitchFamily="18" charset="0"/>
                <a:cs typeface="Times New Roman" panose="02020603050405020304" pitchFamily="18" charset="0"/>
              </a:rPr>
              <a:t>Introduction</a:t>
            </a:r>
          </a:p>
          <a:p>
            <a:endParaRPr lang="en-IN" sz="2400" dirty="0">
              <a:solidFill>
                <a:schemeClr val="bg1"/>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IN" sz="2400" dirty="0">
                <a:solidFill>
                  <a:schemeClr val="bg1"/>
                </a:solidFill>
                <a:latin typeface="Times New Roman" panose="02020603050405020304" pitchFamily="18" charset="0"/>
                <a:cs typeface="Times New Roman" panose="02020603050405020304" pitchFamily="18" charset="0"/>
              </a:rPr>
              <a:t>Developments of nanotechnology</a:t>
            </a:r>
          </a:p>
          <a:p>
            <a:endParaRPr lang="en-IN" sz="2400" dirty="0">
              <a:solidFill>
                <a:schemeClr val="bg1"/>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IN" sz="2400" dirty="0">
                <a:solidFill>
                  <a:schemeClr val="bg1"/>
                </a:solidFill>
                <a:latin typeface="Times New Roman" panose="02020603050405020304" pitchFamily="18" charset="0"/>
                <a:cs typeface="Times New Roman" panose="02020603050405020304" pitchFamily="18" charset="0"/>
              </a:rPr>
              <a:t>Working of nanotechnology</a:t>
            </a:r>
          </a:p>
          <a:p>
            <a:endParaRPr lang="en-IN" sz="2400" dirty="0">
              <a:solidFill>
                <a:schemeClr val="bg1"/>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IN" sz="2400" dirty="0">
                <a:solidFill>
                  <a:schemeClr val="bg1"/>
                </a:solidFill>
                <a:latin typeface="Times New Roman" panose="02020603050405020304" pitchFamily="18" charset="0"/>
                <a:cs typeface="Times New Roman" panose="02020603050405020304" pitchFamily="18" charset="0"/>
              </a:rPr>
              <a:t>Applications</a:t>
            </a:r>
          </a:p>
          <a:p>
            <a:endParaRPr lang="en-IN" sz="2400" dirty="0">
              <a:solidFill>
                <a:schemeClr val="bg1"/>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IN" sz="2400" dirty="0">
                <a:solidFill>
                  <a:schemeClr val="bg1"/>
                </a:solidFill>
                <a:latin typeface="Times New Roman" panose="02020603050405020304" pitchFamily="18" charset="0"/>
                <a:cs typeface="Times New Roman" panose="02020603050405020304" pitchFamily="18" charset="0"/>
              </a:rPr>
              <a:t>Advantages &amp; Disadvantages</a:t>
            </a:r>
          </a:p>
          <a:p>
            <a:endParaRPr lang="en-IN" sz="2400" dirty="0">
              <a:solidFill>
                <a:schemeClr val="bg1"/>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IN" sz="2400" dirty="0">
                <a:solidFill>
                  <a:schemeClr val="bg1"/>
                </a:solidFill>
                <a:latin typeface="Times New Roman" panose="02020603050405020304" pitchFamily="18" charset="0"/>
                <a:cs typeface="Times New Roman" panose="02020603050405020304" pitchFamily="18" charset="0"/>
              </a:rPr>
              <a:t>Conclusion</a:t>
            </a:r>
          </a:p>
          <a:p>
            <a:endParaRPr lang="en-IN" sz="2400" dirty="0">
              <a:solidFill>
                <a:schemeClr val="bg1"/>
              </a:solidFill>
              <a:latin typeface="Times New Roman" panose="02020603050405020304" pitchFamily="18" charset="0"/>
              <a:cs typeface="Times New Roman" panose="02020603050405020304" pitchFamily="18" charset="0"/>
            </a:endParaRPr>
          </a:p>
          <a:p>
            <a:endParaRPr lang="en-IN" sz="24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22152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down)">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checkerboard(across)">
                                      <p:cBhvr>
                                        <p:cTn id="12" dur="500"/>
                                        <p:tgtEl>
                                          <p:spTgt spid="6">
                                            <p:txEl>
                                              <p:pRg st="2" end="2"/>
                                            </p:txEl>
                                          </p:spTgt>
                                        </p:tgtEl>
                                      </p:cBhvr>
                                    </p:animEffect>
                                  </p:childTnLst>
                                </p:cTn>
                              </p:par>
                              <p:par>
                                <p:cTn id="13" presetID="5" presetClass="entr" presetSubtype="10" fill="hold" nodeType="with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animEffect transition="in" filter="checkerboard(across)">
                                      <p:cBhvr>
                                        <p:cTn id="15" dur="1000"/>
                                        <p:tgtEl>
                                          <p:spTgt spid="6">
                                            <p:txEl>
                                              <p:pRg st="4" end="4"/>
                                            </p:txEl>
                                          </p:spTgt>
                                        </p:tgtEl>
                                      </p:cBhvr>
                                    </p:animEffect>
                                  </p:childTnLst>
                                </p:cTn>
                              </p:par>
                              <p:par>
                                <p:cTn id="16" presetID="5" presetClass="entr" presetSubtype="10" fill="hold" nodeType="withEffect">
                                  <p:stCondLst>
                                    <p:cond delay="0"/>
                                  </p:stCondLst>
                                  <p:childTnLst>
                                    <p:set>
                                      <p:cBhvr>
                                        <p:cTn id="17" dur="1" fill="hold">
                                          <p:stCondLst>
                                            <p:cond delay="0"/>
                                          </p:stCondLst>
                                        </p:cTn>
                                        <p:tgtEl>
                                          <p:spTgt spid="6">
                                            <p:txEl>
                                              <p:pRg st="6" end="6"/>
                                            </p:txEl>
                                          </p:spTgt>
                                        </p:tgtEl>
                                        <p:attrNameLst>
                                          <p:attrName>style.visibility</p:attrName>
                                        </p:attrNameLst>
                                      </p:cBhvr>
                                      <p:to>
                                        <p:strVal val="visible"/>
                                      </p:to>
                                    </p:set>
                                    <p:animEffect transition="in" filter="checkerboard(across)">
                                      <p:cBhvr>
                                        <p:cTn id="18" dur="1000"/>
                                        <p:tgtEl>
                                          <p:spTgt spid="6">
                                            <p:txEl>
                                              <p:pRg st="6" end="6"/>
                                            </p:txEl>
                                          </p:spTgt>
                                        </p:tgtEl>
                                      </p:cBhvr>
                                    </p:animEffect>
                                  </p:childTnLst>
                                </p:cTn>
                              </p:par>
                              <p:par>
                                <p:cTn id="19" presetID="5" presetClass="entr" presetSubtype="10" fill="hold" nodeType="withEffect">
                                  <p:stCondLst>
                                    <p:cond delay="0"/>
                                  </p:stCondLst>
                                  <p:childTnLst>
                                    <p:set>
                                      <p:cBhvr>
                                        <p:cTn id="20" dur="1" fill="hold">
                                          <p:stCondLst>
                                            <p:cond delay="0"/>
                                          </p:stCondLst>
                                        </p:cTn>
                                        <p:tgtEl>
                                          <p:spTgt spid="6">
                                            <p:txEl>
                                              <p:pRg st="8" end="8"/>
                                            </p:txEl>
                                          </p:spTgt>
                                        </p:tgtEl>
                                        <p:attrNameLst>
                                          <p:attrName>style.visibility</p:attrName>
                                        </p:attrNameLst>
                                      </p:cBhvr>
                                      <p:to>
                                        <p:strVal val="visible"/>
                                      </p:to>
                                    </p:set>
                                    <p:animEffect transition="in" filter="checkerboard(across)">
                                      <p:cBhvr>
                                        <p:cTn id="21" dur="1000"/>
                                        <p:tgtEl>
                                          <p:spTgt spid="6">
                                            <p:txEl>
                                              <p:pRg st="8" end="8"/>
                                            </p:txEl>
                                          </p:spTgt>
                                        </p:tgtEl>
                                      </p:cBhvr>
                                    </p:animEffect>
                                  </p:childTnLst>
                                </p:cTn>
                              </p:par>
                              <p:par>
                                <p:cTn id="22" presetID="5" presetClass="entr" presetSubtype="10" fill="hold" nodeType="withEffect">
                                  <p:stCondLst>
                                    <p:cond delay="0"/>
                                  </p:stCondLst>
                                  <p:childTnLst>
                                    <p:set>
                                      <p:cBhvr>
                                        <p:cTn id="23" dur="1" fill="hold">
                                          <p:stCondLst>
                                            <p:cond delay="0"/>
                                          </p:stCondLst>
                                        </p:cTn>
                                        <p:tgtEl>
                                          <p:spTgt spid="6">
                                            <p:txEl>
                                              <p:pRg st="10" end="10"/>
                                            </p:txEl>
                                          </p:spTgt>
                                        </p:tgtEl>
                                        <p:attrNameLst>
                                          <p:attrName>style.visibility</p:attrName>
                                        </p:attrNameLst>
                                      </p:cBhvr>
                                      <p:to>
                                        <p:strVal val="visible"/>
                                      </p:to>
                                    </p:set>
                                    <p:animEffect transition="in" filter="checkerboard(across)">
                                      <p:cBhvr>
                                        <p:cTn id="24" dur="1000"/>
                                        <p:tgtEl>
                                          <p:spTgt spid="6">
                                            <p:txEl>
                                              <p:pRg st="10" end="10"/>
                                            </p:txEl>
                                          </p:spTgt>
                                        </p:tgtEl>
                                      </p:cBhvr>
                                    </p:animEffect>
                                  </p:childTnLst>
                                </p:cTn>
                              </p:par>
                              <p:par>
                                <p:cTn id="25" presetID="5" presetClass="entr" presetSubtype="10" fill="hold" nodeType="withEffect">
                                  <p:stCondLst>
                                    <p:cond delay="0"/>
                                  </p:stCondLst>
                                  <p:childTnLst>
                                    <p:set>
                                      <p:cBhvr>
                                        <p:cTn id="26" dur="1" fill="hold">
                                          <p:stCondLst>
                                            <p:cond delay="0"/>
                                          </p:stCondLst>
                                        </p:cTn>
                                        <p:tgtEl>
                                          <p:spTgt spid="6">
                                            <p:txEl>
                                              <p:pRg st="12" end="12"/>
                                            </p:txEl>
                                          </p:spTgt>
                                        </p:tgtEl>
                                        <p:attrNameLst>
                                          <p:attrName>style.visibility</p:attrName>
                                        </p:attrNameLst>
                                      </p:cBhvr>
                                      <p:to>
                                        <p:strVal val="visible"/>
                                      </p:to>
                                    </p:set>
                                    <p:animEffect transition="in" filter="checkerboard(across)">
                                      <p:cBhvr>
                                        <p:cTn id="27" dur="1000"/>
                                        <p:tgtEl>
                                          <p:spTgt spid="6">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B9F79C2-B9B0-455D-A57B-6604EA4A4F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Rectangle 3">
            <a:extLst>
              <a:ext uri="{FF2B5EF4-FFF2-40B4-BE49-F238E27FC236}">
                <a16:creationId xmlns:a16="http://schemas.microsoft.com/office/drawing/2014/main" id="{FFB6B7B2-5970-48BD-A76C-8CAD5561AFF2}"/>
              </a:ext>
            </a:extLst>
          </p:cNvPr>
          <p:cNvSpPr/>
          <p:nvPr/>
        </p:nvSpPr>
        <p:spPr>
          <a:xfrm>
            <a:off x="738909" y="0"/>
            <a:ext cx="10427854" cy="5570756"/>
          </a:xfrm>
          <a:prstGeom prst="rect">
            <a:avLst/>
          </a:prstGeom>
        </p:spPr>
        <p:txBody>
          <a:bodyPr wrap="square">
            <a:spAutoFit/>
          </a:bodyPr>
          <a:lstStyle/>
          <a:p>
            <a:r>
              <a:rPr lang="en-US" sz="2800" b="1" dirty="0">
                <a:solidFill>
                  <a:schemeClr val="bg1"/>
                </a:solidFill>
                <a:latin typeface="Times New Roman" panose="02020603050405020304" pitchFamily="18" charset="0"/>
                <a:cs typeface="Times New Roman" panose="02020603050405020304" pitchFamily="18" charset="0"/>
              </a:rPr>
              <a:t>   </a:t>
            </a:r>
            <a:r>
              <a:rPr lang="en-US" sz="3200" b="1" dirty="0">
                <a:solidFill>
                  <a:schemeClr val="bg1"/>
                </a:solidFill>
                <a:latin typeface="Times New Roman" panose="02020603050405020304" pitchFamily="18" charset="0"/>
                <a:cs typeface="Times New Roman" panose="02020603050405020304" pitchFamily="18" charset="0"/>
              </a:rPr>
              <a:t>INTRODUCTION:</a:t>
            </a:r>
            <a:endParaRPr lang="en-US" sz="2800" b="1" dirty="0">
              <a:solidFill>
                <a:schemeClr val="bg1"/>
              </a:solidFill>
              <a:latin typeface="Times New Roman" panose="02020603050405020304" pitchFamily="18" charset="0"/>
              <a:cs typeface="Times New Roman" panose="02020603050405020304" pitchFamily="18" charset="0"/>
            </a:endParaRPr>
          </a:p>
          <a:p>
            <a:endParaRPr lang="en-US" sz="2800" b="1" dirty="0">
              <a:solidFill>
                <a:schemeClr val="bg1"/>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dirty="0">
                <a:solidFill>
                  <a:schemeClr val="bg1"/>
                </a:solidFill>
                <a:latin typeface="Times New Roman" panose="02020603050405020304" pitchFamily="18" charset="0"/>
                <a:cs typeface="Times New Roman" panose="02020603050405020304" pitchFamily="18" charset="0"/>
              </a:rPr>
              <a:t>‘</a:t>
            </a:r>
            <a:r>
              <a:rPr lang="en-US" sz="2400" b="1" dirty="0">
                <a:solidFill>
                  <a:schemeClr val="bg1"/>
                </a:solidFill>
                <a:latin typeface="Times New Roman" panose="02020603050405020304" pitchFamily="18" charset="0"/>
                <a:cs typeface="Times New Roman" panose="02020603050405020304" pitchFamily="18" charset="0"/>
              </a:rPr>
              <a:t>Nano</a:t>
            </a:r>
            <a:r>
              <a:rPr lang="en-US" sz="2400" dirty="0">
                <a:solidFill>
                  <a:schemeClr val="bg1"/>
                </a:solidFill>
                <a:latin typeface="Times New Roman" panose="02020603050405020304" pitchFamily="18" charset="0"/>
                <a:cs typeface="Times New Roman" panose="02020603050405020304" pitchFamily="18" charset="0"/>
              </a:rPr>
              <a:t>’ comes from the Greek word meaning “</a:t>
            </a:r>
            <a:r>
              <a:rPr lang="en-US" sz="2400" b="1" dirty="0">
                <a:solidFill>
                  <a:schemeClr val="bg1"/>
                </a:solidFill>
                <a:latin typeface="Times New Roman" panose="02020603050405020304" pitchFamily="18" charset="0"/>
                <a:cs typeface="Times New Roman" panose="02020603050405020304" pitchFamily="18" charset="0"/>
              </a:rPr>
              <a:t>dwarf</a:t>
            </a:r>
            <a:r>
              <a:rPr lang="en-US" sz="2400" dirty="0">
                <a:solidFill>
                  <a:schemeClr val="bg1"/>
                </a:solidFill>
                <a:latin typeface="Times New Roman" panose="02020603050405020304" pitchFamily="18" charset="0"/>
                <a:cs typeface="Times New Roman" panose="02020603050405020304" pitchFamily="18" charset="0"/>
              </a:rPr>
              <a:t>” and means one billionth of a meter. </a:t>
            </a:r>
            <a:r>
              <a:rPr lang="en-US" sz="2400" b="1" dirty="0">
                <a:solidFill>
                  <a:schemeClr val="bg1"/>
                </a:solidFill>
                <a:latin typeface="Times New Roman" panose="02020603050405020304" pitchFamily="18" charset="0"/>
                <a:cs typeface="Times New Roman" panose="02020603050405020304" pitchFamily="18" charset="0"/>
              </a:rPr>
              <a:t>Technology</a:t>
            </a:r>
            <a:r>
              <a:rPr lang="en-US" sz="2400" dirty="0">
                <a:solidFill>
                  <a:schemeClr val="bg1"/>
                </a:solidFill>
                <a:latin typeface="Times New Roman" panose="02020603050405020304" pitchFamily="18" charset="0"/>
                <a:cs typeface="Times New Roman" panose="02020603050405020304" pitchFamily="18" charset="0"/>
              </a:rPr>
              <a:t> is making usage of knowledge of tools, machines and techniques in order to perform a specific function</a:t>
            </a:r>
            <a:r>
              <a:rPr lang="en-US" sz="2000" dirty="0">
                <a:solidFill>
                  <a:schemeClr val="bg1"/>
                </a:solidFill>
                <a:latin typeface="Times New Roman" panose="02020603050405020304" pitchFamily="18" charset="0"/>
                <a:cs typeface="Times New Roman" panose="02020603050405020304" pitchFamily="18" charset="0"/>
              </a:rPr>
              <a:t>.</a:t>
            </a:r>
          </a:p>
          <a:p>
            <a:pPr marL="342900" indent="-342900">
              <a:buFont typeface="Wingdings" panose="05000000000000000000" pitchFamily="2" charset="2"/>
              <a:buChar char="Ø"/>
            </a:pPr>
            <a:endParaRPr lang="en-US" sz="2000" dirty="0">
              <a:solidFill>
                <a:schemeClr val="bg1"/>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2400" dirty="0">
                <a:solidFill>
                  <a:schemeClr val="bg1"/>
                </a:solidFill>
                <a:latin typeface="Times New Roman" panose="02020603050405020304" pitchFamily="18" charset="0"/>
                <a:cs typeface="Times New Roman" panose="02020603050405020304" pitchFamily="18" charset="0"/>
              </a:rPr>
              <a:t>K. Eric Drexler has coined the term “</a:t>
            </a:r>
            <a:r>
              <a:rPr lang="en-US" sz="2400" b="1" dirty="0">
                <a:solidFill>
                  <a:schemeClr val="bg1"/>
                </a:solidFill>
                <a:latin typeface="Times New Roman" panose="02020603050405020304" pitchFamily="18" charset="0"/>
                <a:cs typeface="Times New Roman" panose="02020603050405020304" pitchFamily="18" charset="0"/>
              </a:rPr>
              <a:t>NANOTECHNOLOGY</a:t>
            </a:r>
            <a:r>
              <a:rPr lang="en-US" sz="2400" dirty="0">
                <a:solidFill>
                  <a:schemeClr val="bg1"/>
                </a:solidFill>
                <a:latin typeface="Times New Roman" panose="02020603050405020304" pitchFamily="18" charset="0"/>
                <a:cs typeface="Times New Roman" panose="02020603050405020304" pitchFamily="18" charset="0"/>
              </a:rPr>
              <a:t>” in 1980’s.</a:t>
            </a:r>
          </a:p>
          <a:p>
            <a:pPr marL="457200" indent="-457200">
              <a:buFont typeface="Wingdings" panose="05000000000000000000" pitchFamily="2" charset="2"/>
              <a:buChar char="Ø"/>
            </a:pPr>
            <a:endParaRPr lang="en-US" sz="2000" dirty="0">
              <a:solidFill>
                <a:schemeClr val="bg1"/>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2400" dirty="0">
                <a:solidFill>
                  <a:schemeClr val="bg1"/>
                </a:solidFill>
                <a:latin typeface="Times New Roman" panose="02020603050405020304" pitchFamily="18" charset="0"/>
                <a:cs typeface="Times New Roman" panose="02020603050405020304" pitchFamily="18" charset="0"/>
              </a:rPr>
              <a:t>It is a part of science and technology that deals with the control of matter on the atomic and molecular scale </a:t>
            </a:r>
            <a:r>
              <a:rPr lang="en-US" sz="2400" dirty="0" err="1">
                <a:solidFill>
                  <a:schemeClr val="bg1"/>
                </a:solidFill>
                <a:latin typeface="Times New Roman" panose="02020603050405020304" pitchFamily="18" charset="0"/>
                <a:cs typeface="Times New Roman" panose="02020603050405020304" pitchFamily="18" charset="0"/>
              </a:rPr>
              <a:t>i</a:t>
            </a:r>
            <a:r>
              <a:rPr lang="en-US" sz="2400" dirty="0">
                <a:solidFill>
                  <a:schemeClr val="bg1"/>
                </a:solidFill>
                <a:latin typeface="Times New Roman" panose="02020603050405020304" pitchFamily="18" charset="0"/>
                <a:cs typeface="Times New Roman" panose="02020603050405020304" pitchFamily="18" charset="0"/>
              </a:rPr>
              <a:t>. e, about 100nm.</a:t>
            </a:r>
            <a:endParaRPr lang="en-US" sz="2000" dirty="0">
              <a:solidFill>
                <a:schemeClr val="bg1"/>
              </a:solidFill>
              <a:latin typeface="Times New Roman" panose="02020603050405020304" pitchFamily="18" charset="0"/>
              <a:cs typeface="Times New Roman" panose="02020603050405020304" pitchFamily="18" charset="0"/>
            </a:endParaRPr>
          </a:p>
          <a:p>
            <a:pPr marL="457200" indent="-457200"/>
            <a:endParaRPr lang="en-US" sz="2000" dirty="0">
              <a:solidFill>
                <a:schemeClr val="bg1"/>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2400" dirty="0">
                <a:solidFill>
                  <a:schemeClr val="bg1"/>
                </a:solidFill>
                <a:latin typeface="Times New Roman" panose="02020603050405020304" pitchFamily="18" charset="0"/>
                <a:cs typeface="Times New Roman" panose="02020603050405020304" pitchFamily="18" charset="0"/>
              </a:rPr>
              <a:t>By manipulating the atoms and molecules across the range of physics, chemistry and biology, new products can be fabricated. So, also known as </a:t>
            </a:r>
            <a:r>
              <a:rPr lang="en-US" sz="2400" b="1" dirty="0">
                <a:solidFill>
                  <a:schemeClr val="bg1"/>
                </a:solidFill>
                <a:latin typeface="Times New Roman" panose="02020603050405020304" pitchFamily="18" charset="0"/>
                <a:cs typeface="Times New Roman" panose="02020603050405020304" pitchFamily="18" charset="0"/>
              </a:rPr>
              <a:t>molecular </a:t>
            </a:r>
            <a:r>
              <a:rPr lang="en-US" sz="2400" dirty="0">
                <a:solidFill>
                  <a:schemeClr val="bg1"/>
                </a:solidFill>
                <a:latin typeface="Times New Roman" panose="02020603050405020304" pitchFamily="18" charset="0"/>
                <a:cs typeface="Times New Roman" panose="02020603050405020304" pitchFamily="18" charset="0"/>
              </a:rPr>
              <a:t>technology.</a:t>
            </a:r>
          </a:p>
          <a:p>
            <a:pPr marL="457200" indent="-457200">
              <a:buFont typeface="Wingdings" panose="05000000000000000000" pitchFamily="2" charset="2"/>
              <a:buChar char="Ø"/>
            </a:pPr>
            <a:endParaRPr lang="en-US" sz="20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60555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ox(in)">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wipe(down)">
                                      <p:cBhvr>
                                        <p:cTn id="12" dur="1000"/>
                                        <p:tgtEl>
                                          <p:spTgt spid="4">
                                            <p:txEl>
                                              <p:pRg st="2" end="2"/>
                                            </p:txEl>
                                          </p:spTgt>
                                        </p:tgtEl>
                                      </p:cBhvr>
                                    </p:animEffect>
                                  </p:childTnLst>
                                </p:cTn>
                              </p:par>
                              <p:par>
                                <p:cTn id="13" presetID="22" presetClass="entr" presetSubtype="4" fill="hold" nodeType="with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animEffect transition="in" filter="wipe(down)">
                                      <p:cBhvr>
                                        <p:cTn id="15" dur="500"/>
                                        <p:tgtEl>
                                          <p:spTgt spid="4">
                                            <p:txEl>
                                              <p:pRg st="4" end="4"/>
                                            </p:txEl>
                                          </p:spTgt>
                                        </p:tgtEl>
                                      </p:cBhvr>
                                    </p:animEffect>
                                  </p:childTnLst>
                                </p:cTn>
                              </p:par>
                              <p:par>
                                <p:cTn id="16" presetID="22" presetClass="entr" presetSubtype="4" fill="hold" nodeType="withEffect">
                                  <p:stCondLst>
                                    <p:cond delay="0"/>
                                  </p:stCondLst>
                                  <p:childTnLst>
                                    <p:set>
                                      <p:cBhvr>
                                        <p:cTn id="17" dur="1" fill="hold">
                                          <p:stCondLst>
                                            <p:cond delay="0"/>
                                          </p:stCondLst>
                                        </p:cTn>
                                        <p:tgtEl>
                                          <p:spTgt spid="4">
                                            <p:txEl>
                                              <p:pRg st="6" end="6"/>
                                            </p:txEl>
                                          </p:spTgt>
                                        </p:tgtEl>
                                        <p:attrNameLst>
                                          <p:attrName>style.visibility</p:attrName>
                                        </p:attrNameLst>
                                      </p:cBhvr>
                                      <p:to>
                                        <p:strVal val="visible"/>
                                      </p:to>
                                    </p:set>
                                    <p:animEffect transition="in" filter="wipe(down)">
                                      <p:cBhvr>
                                        <p:cTn id="18" dur="500"/>
                                        <p:tgtEl>
                                          <p:spTgt spid="4">
                                            <p:txEl>
                                              <p:pRg st="6" end="6"/>
                                            </p:txEl>
                                          </p:spTgt>
                                        </p:tgtEl>
                                      </p:cBhvr>
                                    </p:animEffect>
                                  </p:childTnLst>
                                </p:cTn>
                              </p:par>
                              <p:par>
                                <p:cTn id="19" presetID="22" presetClass="entr" presetSubtype="4" fill="hold" nodeType="withEffect">
                                  <p:stCondLst>
                                    <p:cond delay="0"/>
                                  </p:stCondLst>
                                  <p:childTnLst>
                                    <p:set>
                                      <p:cBhvr>
                                        <p:cTn id="20" dur="1" fill="hold">
                                          <p:stCondLst>
                                            <p:cond delay="0"/>
                                          </p:stCondLst>
                                        </p:cTn>
                                        <p:tgtEl>
                                          <p:spTgt spid="4">
                                            <p:txEl>
                                              <p:pRg st="8" end="8"/>
                                            </p:txEl>
                                          </p:spTgt>
                                        </p:tgtEl>
                                        <p:attrNameLst>
                                          <p:attrName>style.visibility</p:attrName>
                                        </p:attrNameLst>
                                      </p:cBhvr>
                                      <p:to>
                                        <p:strVal val="visible"/>
                                      </p:to>
                                    </p:set>
                                    <p:animEffect transition="in" filter="wipe(down)">
                                      <p:cBhvr>
                                        <p:cTn id="21" dur="5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BA90B9A-31FA-481C-8FE9-16F9DA2B8E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extBox 4">
            <a:extLst>
              <a:ext uri="{FF2B5EF4-FFF2-40B4-BE49-F238E27FC236}">
                <a16:creationId xmlns:a16="http://schemas.microsoft.com/office/drawing/2014/main" id="{4308FE5D-2965-4C90-9049-EB2A2FBF4EC9}"/>
              </a:ext>
            </a:extLst>
          </p:cNvPr>
          <p:cNvSpPr txBox="1"/>
          <p:nvPr/>
        </p:nvSpPr>
        <p:spPr>
          <a:xfrm>
            <a:off x="655782" y="157018"/>
            <a:ext cx="10621818" cy="2185214"/>
          </a:xfrm>
          <a:prstGeom prst="rect">
            <a:avLst/>
          </a:prstGeom>
          <a:noFill/>
        </p:spPr>
        <p:txBody>
          <a:bodyPr wrap="square" rtlCol="0">
            <a:spAutoFit/>
          </a:bodyPr>
          <a:lstStyle/>
          <a:p>
            <a:pPr marL="285750" indent="-285750"/>
            <a:r>
              <a:rPr lang="en-US" sz="2000" b="1" dirty="0">
                <a:solidFill>
                  <a:schemeClr val="bg1"/>
                </a:solidFill>
                <a:latin typeface="Times New Roman" panose="02020603050405020304" pitchFamily="18" charset="0"/>
                <a:cs typeface="Times New Roman" panose="02020603050405020304" pitchFamily="18" charset="0"/>
              </a:rPr>
              <a:t>  </a:t>
            </a:r>
            <a:r>
              <a:rPr lang="en-US" sz="2800" b="1" dirty="0">
                <a:solidFill>
                  <a:schemeClr val="bg1"/>
                </a:solidFill>
                <a:latin typeface="Times New Roman" panose="02020603050405020304" pitchFamily="18" charset="0"/>
                <a:cs typeface="Times New Roman" panose="02020603050405020304" pitchFamily="18" charset="0"/>
              </a:rPr>
              <a:t>Approaches in nanotechnology:</a:t>
            </a:r>
            <a:r>
              <a:rPr lang="en-US" sz="2000" b="1" dirty="0">
                <a:solidFill>
                  <a:schemeClr val="bg1"/>
                </a:solidFill>
                <a:latin typeface="Times New Roman" panose="02020603050405020304" pitchFamily="18" charset="0"/>
                <a:cs typeface="Times New Roman" panose="02020603050405020304" pitchFamily="18" charset="0"/>
              </a:rPr>
              <a:t> </a:t>
            </a:r>
          </a:p>
          <a:p>
            <a:pPr marL="285750" indent="-285750">
              <a:buFont typeface="Wingdings" panose="05000000000000000000" pitchFamily="2" charset="2"/>
              <a:buChar char="Ø"/>
            </a:pPr>
            <a:endParaRPr lang="en-US" sz="2000" b="1" dirty="0">
              <a:solidFill>
                <a:schemeClr val="bg1"/>
              </a:solidFill>
              <a:latin typeface="Times New Roman" panose="02020603050405020304" pitchFamily="18" charset="0"/>
              <a:cs typeface="Times New Roman" panose="02020603050405020304" pitchFamily="18" charset="0"/>
            </a:endParaRPr>
          </a:p>
          <a:p>
            <a:pPr marL="285750" indent="4763">
              <a:buFont typeface="Arial" pitchFamily="34" charset="0"/>
              <a:buChar char="•"/>
            </a:pPr>
            <a:r>
              <a:rPr lang="en-US" sz="2000" dirty="0">
                <a:solidFill>
                  <a:schemeClr val="bg1"/>
                </a:solidFill>
                <a:latin typeface="Times New Roman" panose="02020603050405020304" pitchFamily="18" charset="0"/>
                <a:cs typeface="Times New Roman" panose="02020603050405020304" pitchFamily="18" charset="0"/>
              </a:rPr>
              <a:t> </a:t>
            </a:r>
            <a:r>
              <a:rPr lang="en-US" sz="2400" dirty="0">
                <a:solidFill>
                  <a:schemeClr val="bg1"/>
                </a:solidFill>
                <a:latin typeface="Times New Roman" panose="02020603050405020304" pitchFamily="18" charset="0"/>
                <a:cs typeface="Times New Roman" panose="02020603050405020304" pitchFamily="18" charset="0"/>
              </a:rPr>
              <a:t>Bottom up approach </a:t>
            </a:r>
          </a:p>
          <a:p>
            <a:pPr marL="285750" indent="4763">
              <a:buFont typeface="Arial" pitchFamily="34" charset="0"/>
              <a:buChar char="•"/>
            </a:pPr>
            <a:r>
              <a:rPr lang="en-US" sz="2400" dirty="0">
                <a:solidFill>
                  <a:schemeClr val="bg1"/>
                </a:solidFill>
                <a:latin typeface="Times New Roman" panose="02020603050405020304" pitchFamily="18" charset="0"/>
                <a:cs typeface="Times New Roman" panose="02020603050405020304" pitchFamily="18" charset="0"/>
              </a:rPr>
              <a:t> Top down approach.</a:t>
            </a:r>
            <a:endParaRPr lang="en-US" sz="2000" dirty="0">
              <a:solidFill>
                <a:schemeClr val="bg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US" sz="2000" dirty="0">
              <a:solidFill>
                <a:schemeClr val="bg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US" sz="2000" dirty="0">
              <a:solidFill>
                <a:schemeClr val="bg1"/>
              </a:solidFill>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9675B61B-1D43-440E-A044-D477371A6A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9341" y="2342232"/>
            <a:ext cx="4849090" cy="3186544"/>
          </a:xfrm>
          <a:prstGeom prst="rect">
            <a:avLst/>
          </a:prstGeom>
        </p:spPr>
      </p:pic>
    </p:spTree>
    <p:extLst>
      <p:ext uri="{BB962C8B-B14F-4D97-AF65-F5344CB8AC3E}">
        <p14:creationId xmlns:p14="http://schemas.microsoft.com/office/powerpoint/2010/main" val="2306886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diamond(in)">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randombar(horizontal)">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randombar(horizontal)">
                                      <p:cBhvr>
                                        <p:cTn id="17" dur="500"/>
                                        <p:tgtEl>
                                          <p:spTgt spid="5">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randombar(horizontal)">
                                      <p:cBhvr>
                                        <p:cTn id="22"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BA90B9A-31FA-481C-8FE9-16F9DA2B8E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extBox 5"/>
          <p:cNvSpPr txBox="1"/>
          <p:nvPr/>
        </p:nvSpPr>
        <p:spPr>
          <a:xfrm>
            <a:off x="432006" y="340468"/>
            <a:ext cx="11027325" cy="7417415"/>
          </a:xfrm>
          <a:prstGeom prst="rect">
            <a:avLst/>
          </a:prstGeom>
          <a:noFill/>
        </p:spPr>
        <p:txBody>
          <a:bodyPr wrap="square" rtlCol="0">
            <a:spAutoFit/>
          </a:bodyPr>
          <a:lstStyle/>
          <a:p>
            <a:r>
              <a:rPr lang="en-US" sz="3200" b="1" dirty="0">
                <a:solidFill>
                  <a:schemeClr val="bg1"/>
                </a:solidFill>
                <a:latin typeface="Times New Roman" panose="02020603050405020304" pitchFamily="18" charset="0"/>
                <a:cs typeface="Times New Roman" panose="02020603050405020304" pitchFamily="18" charset="0"/>
              </a:rPr>
              <a:t>Developments of nanotechnology:</a:t>
            </a:r>
            <a:endParaRPr lang="en-US" sz="2400" dirty="0">
              <a:solidFill>
                <a:schemeClr val="bg1"/>
              </a:solidFill>
              <a:latin typeface="Times New Roman" panose="02020603050405020304" pitchFamily="18" charset="0"/>
              <a:cs typeface="Times New Roman" panose="02020603050405020304" pitchFamily="18" charset="0"/>
            </a:endParaRPr>
          </a:p>
          <a:p>
            <a:endParaRPr lang="en-IN" b="1" dirty="0">
              <a:solidFill>
                <a:schemeClr val="bg1"/>
              </a:solidFill>
              <a:latin typeface="Times New Roman" panose="02020603050405020304" pitchFamily="18" charset="0"/>
              <a:cs typeface="Times New Roman" panose="02020603050405020304" pitchFamily="18" charset="0"/>
            </a:endParaRPr>
          </a:p>
          <a:p>
            <a:r>
              <a:rPr lang="en-IN" sz="2000" b="1" dirty="0">
                <a:solidFill>
                  <a:schemeClr val="bg1"/>
                </a:solidFill>
                <a:latin typeface="Times New Roman" panose="02020603050405020304" pitchFamily="18" charset="0"/>
                <a:cs typeface="Times New Roman" panose="02020603050405020304" pitchFamily="18" charset="0"/>
              </a:rPr>
              <a:t>1) Nanomanipulators: </a:t>
            </a:r>
            <a:r>
              <a:rPr lang="en-US" sz="2000" dirty="0">
                <a:solidFill>
                  <a:schemeClr val="bg1"/>
                </a:solidFill>
                <a:latin typeface="Times New Roman" panose="02020603050405020304" pitchFamily="18" charset="0"/>
                <a:cs typeface="Times New Roman" panose="02020603050405020304" pitchFamily="18" charset="0"/>
              </a:rPr>
              <a:t>It is a specialized nanorobot and microscopic viewing system for manipulating nanoscopic materials. It consists of optical scanning device, a computer interface. Applications includes carbon nanotubes, polymers, microchips etc.</a:t>
            </a:r>
          </a:p>
          <a:p>
            <a:pPr lvl="0"/>
            <a:endParaRPr lang="en-US" sz="2000" b="1" dirty="0">
              <a:solidFill>
                <a:schemeClr val="bg1"/>
              </a:solidFill>
              <a:latin typeface="Times New Roman" panose="02020603050405020304" pitchFamily="18" charset="0"/>
              <a:cs typeface="Times New Roman" panose="02020603050405020304" pitchFamily="18" charset="0"/>
            </a:endParaRPr>
          </a:p>
          <a:p>
            <a:pPr lvl="0"/>
            <a:r>
              <a:rPr lang="en-US" sz="2000" b="1" dirty="0">
                <a:solidFill>
                  <a:schemeClr val="bg1"/>
                </a:solidFill>
                <a:latin typeface="Times New Roman" panose="02020603050405020304" pitchFamily="18" charset="0"/>
                <a:cs typeface="Times New Roman" panose="02020603050405020304" pitchFamily="18" charset="0"/>
              </a:rPr>
              <a:t>2) Nanofabrication:</a:t>
            </a:r>
            <a:r>
              <a:rPr lang="en-US" sz="2000" dirty="0">
                <a:solidFill>
                  <a:schemeClr val="bg1"/>
                </a:solidFill>
                <a:latin typeface="Times New Roman" panose="02020603050405020304" pitchFamily="18" charset="0"/>
                <a:cs typeface="Times New Roman" panose="02020603050405020304" pitchFamily="18" charset="0"/>
              </a:rPr>
              <a:t> It is the design and manufacture of devices in nanoscale. In 1970s, scaling down IC fabrication is used by removing one atom at a time. Next assembly of chip atom-by-atom took place. Later automatic assembling using programmable nanomachines is involved. Finally a biochip might be emerged that might grow like a plant from a seed.</a:t>
            </a:r>
          </a:p>
          <a:p>
            <a:pPr lvl="0"/>
            <a:endParaRPr lang="en-US" sz="2000" dirty="0">
              <a:solidFill>
                <a:schemeClr val="bg1"/>
              </a:solidFill>
              <a:latin typeface="Times New Roman" panose="02020603050405020304" pitchFamily="18" charset="0"/>
              <a:cs typeface="Times New Roman" panose="02020603050405020304" pitchFamily="18" charset="0"/>
            </a:endParaRPr>
          </a:p>
          <a:p>
            <a:pPr lvl="0"/>
            <a:r>
              <a:rPr lang="en-US" sz="2000" b="1" dirty="0">
                <a:solidFill>
                  <a:schemeClr val="bg1"/>
                </a:solidFill>
              </a:rPr>
              <a:t>3) </a:t>
            </a:r>
            <a:r>
              <a:rPr lang="en-US" sz="2000" b="1" dirty="0">
                <a:solidFill>
                  <a:schemeClr val="bg1"/>
                </a:solidFill>
                <a:latin typeface="Times New Roman" panose="02020603050405020304" pitchFamily="18" charset="0"/>
                <a:cs typeface="Times New Roman" panose="02020603050405020304" pitchFamily="18" charset="0"/>
              </a:rPr>
              <a:t>Nano-computers: </a:t>
            </a:r>
            <a:r>
              <a:rPr lang="en-US" sz="2000" dirty="0">
                <a:solidFill>
                  <a:schemeClr val="bg1"/>
                </a:solidFill>
                <a:latin typeface="Times New Roman" panose="02020603050405020304" pitchFamily="18" charset="0"/>
                <a:cs typeface="Times New Roman" panose="02020603050405020304" pitchFamily="18" charset="0"/>
              </a:rPr>
              <a:t>A nano-computer is a computer which is microscopic. Initially single-electron tunneling (SET) transistors in 1985 and single-electron transistors in 1987 are developed. Later interconnection between components took place.</a:t>
            </a:r>
          </a:p>
          <a:p>
            <a:pPr lvl="0"/>
            <a:endParaRPr lang="en-US" sz="2000" dirty="0">
              <a:solidFill>
                <a:schemeClr val="bg1"/>
              </a:solidFill>
              <a:latin typeface="Times New Roman" panose="02020603050405020304" pitchFamily="18" charset="0"/>
              <a:cs typeface="Times New Roman" panose="02020603050405020304" pitchFamily="18" charset="0"/>
            </a:endParaRPr>
          </a:p>
          <a:p>
            <a:r>
              <a:rPr lang="en-US" sz="2000" b="1" dirty="0">
                <a:solidFill>
                  <a:schemeClr val="bg1"/>
                </a:solidFill>
              </a:rPr>
              <a:t>4) </a:t>
            </a:r>
            <a:r>
              <a:rPr lang="en-US" sz="2000" b="1" dirty="0">
                <a:solidFill>
                  <a:schemeClr val="bg1"/>
                </a:solidFill>
                <a:latin typeface="Times New Roman" panose="02020603050405020304" pitchFamily="18" charset="0"/>
                <a:cs typeface="Times New Roman" panose="02020603050405020304" pitchFamily="18" charset="0"/>
              </a:rPr>
              <a:t>Nanorobots: </a:t>
            </a:r>
            <a:r>
              <a:rPr lang="en-US" sz="2000" dirty="0">
                <a:solidFill>
                  <a:schemeClr val="bg1"/>
                </a:solidFill>
                <a:latin typeface="Times New Roman" panose="02020603050405020304" pitchFamily="18" charset="0"/>
                <a:cs typeface="Times New Roman" panose="02020603050405020304" pitchFamily="18" charset="0"/>
              </a:rPr>
              <a:t>These are also called as nanoboats. One vision of a nanoassembler or nanorobot is a device with robotic arms, motors, sensors and computer to control the behavior, all at the scale of nanometers.</a:t>
            </a:r>
            <a:endParaRPr lang="en-US" sz="2000" dirty="0">
              <a:solidFill>
                <a:schemeClr val="bg1"/>
              </a:solidFill>
            </a:endParaRPr>
          </a:p>
          <a:p>
            <a:pPr lvl="0"/>
            <a:endParaRPr lang="en-US" sz="2000" dirty="0">
              <a:solidFill>
                <a:schemeClr val="bg1"/>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endParaRPr lang="en-US" sz="2000" dirty="0">
              <a:solidFill>
                <a:schemeClr val="bg1"/>
              </a:solidFill>
              <a:latin typeface="Times New Roman" panose="02020603050405020304" pitchFamily="18" charset="0"/>
              <a:cs typeface="Times New Roman" panose="02020603050405020304" pitchFamily="18" charset="0"/>
            </a:endParaRPr>
          </a:p>
          <a:p>
            <a:endParaRPr lang="en-IN" sz="2000" dirty="0">
              <a:solidFill>
                <a:schemeClr val="bg1"/>
              </a:solidFill>
              <a:latin typeface="Times New Roman" panose="02020603050405020304" pitchFamily="18" charset="0"/>
              <a:cs typeface="Times New Roman" panose="02020603050405020304" pitchFamily="18" charset="0"/>
            </a:endParaRPr>
          </a:p>
          <a:p>
            <a:endParaRPr lang="en-IN" sz="2000" b="1" dirty="0">
              <a:solidFill>
                <a:schemeClr val="bg1"/>
              </a:solidFill>
              <a:latin typeface="Times New Roman" panose="02020603050405020304" pitchFamily="18" charset="0"/>
              <a:cs typeface="Times New Roman" panose="02020603050405020304" pitchFamily="18" charset="0"/>
            </a:endParaRPr>
          </a:p>
          <a:p>
            <a:endParaRPr lang="en-US" dirty="0">
              <a:solidFill>
                <a:schemeClr val="bg1"/>
              </a:solidFill>
            </a:endParaRPr>
          </a:p>
        </p:txBody>
      </p:sp>
    </p:spTree>
    <p:extLst>
      <p:ext uri="{BB962C8B-B14F-4D97-AF65-F5344CB8AC3E}">
        <p14:creationId xmlns:p14="http://schemas.microsoft.com/office/powerpoint/2010/main" val="3695823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diamond(in)">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wipe(down)">
                                      <p:cBhvr>
                                        <p:cTn id="12" dur="500"/>
                                        <p:tgtEl>
                                          <p:spTgt spid="6">
                                            <p:txEl>
                                              <p:pRg st="2" end="2"/>
                                            </p:txEl>
                                          </p:spTgt>
                                        </p:tgtEl>
                                      </p:cBhvr>
                                    </p:animEffect>
                                  </p:childTnLst>
                                </p:cTn>
                              </p:par>
                              <p:par>
                                <p:cTn id="13" presetID="22" presetClass="entr" presetSubtype="4" fill="hold" nodeType="with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animEffect transition="in" filter="wipe(down)">
                                      <p:cBhvr>
                                        <p:cTn id="15" dur="500"/>
                                        <p:tgtEl>
                                          <p:spTgt spid="6">
                                            <p:txEl>
                                              <p:pRg st="4" end="4"/>
                                            </p:txEl>
                                          </p:spTgt>
                                        </p:tgtEl>
                                      </p:cBhvr>
                                    </p:animEffect>
                                  </p:childTnLst>
                                </p:cTn>
                              </p:par>
                              <p:par>
                                <p:cTn id="16" presetID="22" presetClass="entr" presetSubtype="4" fill="hold" nodeType="withEffect">
                                  <p:stCondLst>
                                    <p:cond delay="0"/>
                                  </p:stCondLst>
                                  <p:childTnLst>
                                    <p:set>
                                      <p:cBhvr>
                                        <p:cTn id="17" dur="1" fill="hold">
                                          <p:stCondLst>
                                            <p:cond delay="0"/>
                                          </p:stCondLst>
                                        </p:cTn>
                                        <p:tgtEl>
                                          <p:spTgt spid="6">
                                            <p:txEl>
                                              <p:pRg st="6" end="6"/>
                                            </p:txEl>
                                          </p:spTgt>
                                        </p:tgtEl>
                                        <p:attrNameLst>
                                          <p:attrName>style.visibility</p:attrName>
                                        </p:attrNameLst>
                                      </p:cBhvr>
                                      <p:to>
                                        <p:strVal val="visible"/>
                                      </p:to>
                                    </p:set>
                                    <p:animEffect transition="in" filter="wipe(down)">
                                      <p:cBhvr>
                                        <p:cTn id="18" dur="500"/>
                                        <p:tgtEl>
                                          <p:spTgt spid="6">
                                            <p:txEl>
                                              <p:pRg st="6" end="6"/>
                                            </p:txEl>
                                          </p:spTgt>
                                        </p:tgtEl>
                                      </p:cBhvr>
                                    </p:animEffect>
                                  </p:childTnLst>
                                </p:cTn>
                              </p:par>
                              <p:par>
                                <p:cTn id="19" presetID="22" presetClass="entr" presetSubtype="4" fill="hold" nodeType="withEffect">
                                  <p:stCondLst>
                                    <p:cond delay="0"/>
                                  </p:stCondLst>
                                  <p:childTnLst>
                                    <p:set>
                                      <p:cBhvr>
                                        <p:cTn id="20" dur="1" fill="hold">
                                          <p:stCondLst>
                                            <p:cond delay="0"/>
                                          </p:stCondLst>
                                        </p:cTn>
                                        <p:tgtEl>
                                          <p:spTgt spid="6">
                                            <p:txEl>
                                              <p:pRg st="8" end="8"/>
                                            </p:txEl>
                                          </p:spTgt>
                                        </p:tgtEl>
                                        <p:attrNameLst>
                                          <p:attrName>style.visibility</p:attrName>
                                        </p:attrNameLst>
                                      </p:cBhvr>
                                      <p:to>
                                        <p:strVal val="visible"/>
                                      </p:to>
                                    </p:set>
                                    <p:animEffect transition="in" filter="wipe(down)">
                                      <p:cBhvr>
                                        <p:cTn id="21" dur="500"/>
                                        <p:tgtEl>
                                          <p:spTgt spid="6">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BA90B9A-31FA-481C-8FE9-16F9DA2B8E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extBox 2"/>
          <p:cNvSpPr txBox="1"/>
          <p:nvPr/>
        </p:nvSpPr>
        <p:spPr>
          <a:xfrm>
            <a:off x="414338" y="0"/>
            <a:ext cx="11140102" cy="4001095"/>
          </a:xfrm>
          <a:prstGeom prst="rect">
            <a:avLst/>
          </a:prstGeom>
          <a:noFill/>
        </p:spPr>
        <p:txBody>
          <a:bodyPr wrap="square" rtlCol="0">
            <a:spAutoFit/>
          </a:bodyPr>
          <a:lstStyle/>
          <a:p>
            <a:r>
              <a:rPr lang="en-US" sz="3200" b="1" dirty="0">
                <a:solidFill>
                  <a:schemeClr val="bg1"/>
                </a:solidFill>
                <a:latin typeface="Times New Roman" panose="02020603050405020304" pitchFamily="18" charset="0"/>
                <a:cs typeface="Times New Roman" panose="02020603050405020304" pitchFamily="18" charset="0"/>
              </a:rPr>
              <a:t>Working:</a:t>
            </a:r>
          </a:p>
          <a:p>
            <a:pPr marL="285750" indent="-285750">
              <a:buFont typeface="Wingdings" panose="05000000000000000000" pitchFamily="2" charset="2"/>
              <a:buChar char="§"/>
            </a:pPr>
            <a:endParaRPr lang="en-US" dirty="0">
              <a:solidFill>
                <a:schemeClr val="bg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sz="2400" dirty="0">
                <a:solidFill>
                  <a:schemeClr val="bg1"/>
                </a:solidFill>
                <a:latin typeface="Times New Roman" panose="02020603050405020304" pitchFamily="18" charset="0"/>
                <a:cs typeface="Times New Roman" panose="02020603050405020304" pitchFamily="18" charset="0"/>
              </a:rPr>
              <a:t>In </a:t>
            </a:r>
            <a:r>
              <a:rPr lang="en-US" sz="2400" b="1" dirty="0">
                <a:solidFill>
                  <a:schemeClr val="bg1"/>
                </a:solidFill>
                <a:latin typeface="Times New Roman" panose="02020603050405020304" pitchFamily="18" charset="0"/>
                <a:cs typeface="Times New Roman" panose="02020603050405020304" pitchFamily="18" charset="0"/>
              </a:rPr>
              <a:t>medical</a:t>
            </a:r>
            <a:r>
              <a:rPr lang="en-US" sz="2400" dirty="0">
                <a:solidFill>
                  <a:schemeClr val="bg1"/>
                </a:solidFill>
                <a:latin typeface="Times New Roman" panose="02020603050405020304" pitchFamily="18" charset="0"/>
                <a:cs typeface="Times New Roman" panose="02020603050405020304" pitchFamily="18" charset="0"/>
              </a:rPr>
              <a:t> field, nanotechnology is termed as </a:t>
            </a:r>
            <a:r>
              <a:rPr lang="en-US" sz="2400" b="1" dirty="0">
                <a:solidFill>
                  <a:schemeClr val="bg1"/>
                </a:solidFill>
                <a:latin typeface="Times New Roman" panose="02020603050405020304" pitchFamily="18" charset="0"/>
                <a:cs typeface="Times New Roman" panose="02020603050405020304" pitchFamily="18" charset="0"/>
              </a:rPr>
              <a:t>nanomedicine</a:t>
            </a:r>
            <a:r>
              <a:rPr lang="en-US" sz="2400" dirty="0">
                <a:solidFill>
                  <a:schemeClr val="bg1"/>
                </a:solidFill>
                <a:latin typeface="Times New Roman" panose="02020603050405020304" pitchFamily="18" charset="0"/>
                <a:cs typeface="Times New Roman" panose="02020603050405020304" pitchFamily="18" charset="0"/>
              </a:rPr>
              <a:t>.</a:t>
            </a:r>
            <a:r>
              <a:rPr lang="en-US" sz="2400" b="1" dirty="0">
                <a:solidFill>
                  <a:schemeClr val="bg1"/>
                </a:solidFill>
                <a:latin typeface="Times New Roman" panose="02020603050405020304" pitchFamily="18" charset="0"/>
                <a:cs typeface="Times New Roman" panose="02020603050405020304" pitchFamily="18" charset="0"/>
              </a:rPr>
              <a:t> </a:t>
            </a:r>
            <a:r>
              <a:rPr lang="en-US" sz="2400" dirty="0">
                <a:solidFill>
                  <a:schemeClr val="bg1"/>
                </a:solidFill>
                <a:latin typeface="Times New Roman" panose="02020603050405020304" pitchFamily="18" charset="0"/>
                <a:cs typeface="Times New Roman" panose="02020603050405020304" pitchFamily="18" charset="0"/>
              </a:rPr>
              <a:t>It works as the </a:t>
            </a:r>
            <a:r>
              <a:rPr lang="en-US" sz="2400" b="1" dirty="0">
                <a:solidFill>
                  <a:schemeClr val="bg1"/>
                </a:solidFill>
                <a:latin typeface="Times New Roman" panose="02020603050405020304" pitchFamily="18" charset="0"/>
                <a:cs typeface="Times New Roman" panose="02020603050405020304" pitchFamily="18" charset="0"/>
              </a:rPr>
              <a:t>cardiovascular nanomedicine</a:t>
            </a:r>
            <a:r>
              <a:rPr lang="en-US" sz="2400" dirty="0">
                <a:solidFill>
                  <a:schemeClr val="bg1"/>
                </a:solidFill>
                <a:latin typeface="Times New Roman" panose="02020603050405020304" pitchFamily="18" charset="0"/>
                <a:cs typeface="Times New Roman" panose="02020603050405020304" pitchFamily="18" charset="0"/>
              </a:rPr>
              <a:t>. It cures the heart problems accurately even at the halt stage of functioning of heart. It rectifies the defected valves in the heart. By using nanotechnology, further heart problems which may incur could be predicted.</a:t>
            </a:r>
          </a:p>
          <a:p>
            <a:r>
              <a:rPr lang="en-US" sz="2400" dirty="0">
                <a:solidFill>
                  <a:schemeClr val="bg1"/>
                </a:solidFill>
                <a:latin typeface="Times New Roman" panose="02020603050405020304" pitchFamily="18" charset="0"/>
                <a:cs typeface="Times New Roman" panose="02020603050405020304" pitchFamily="18" charset="0"/>
              </a:rPr>
              <a:t> </a:t>
            </a:r>
            <a:endParaRPr lang="en-US" sz="2800" dirty="0">
              <a:solidFill>
                <a:schemeClr val="bg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sz="2400" dirty="0">
                <a:solidFill>
                  <a:schemeClr val="bg1"/>
                </a:solidFill>
                <a:latin typeface="Times New Roman" panose="02020603050405020304" pitchFamily="18" charset="0"/>
                <a:cs typeface="Times New Roman" panose="02020603050405020304" pitchFamily="18" charset="0"/>
              </a:rPr>
              <a:t>It is also used to cure </a:t>
            </a:r>
            <a:r>
              <a:rPr lang="en-US" sz="2400" b="1" dirty="0">
                <a:solidFill>
                  <a:schemeClr val="bg1"/>
                </a:solidFill>
                <a:latin typeface="Times New Roman" panose="02020603050405020304" pitchFamily="18" charset="0"/>
                <a:cs typeface="Times New Roman" panose="02020603050405020304" pitchFamily="18" charset="0"/>
              </a:rPr>
              <a:t>cancer cells </a:t>
            </a:r>
            <a:r>
              <a:rPr lang="en-US" sz="2400" dirty="0">
                <a:solidFill>
                  <a:schemeClr val="bg1"/>
                </a:solidFill>
                <a:latin typeface="Times New Roman" panose="02020603050405020304" pitchFamily="18" charset="0"/>
                <a:cs typeface="Times New Roman" panose="02020603050405020304" pitchFamily="18" charset="0"/>
              </a:rPr>
              <a:t>by involving the nanoparticles to deliver drugs, heat, light to specific type of cells.</a:t>
            </a:r>
          </a:p>
          <a:p>
            <a:endParaRPr lang="en-IN" dirty="0">
              <a:solidFill>
                <a:schemeClr val="bg1"/>
              </a:solidFill>
            </a:endParaRPr>
          </a:p>
          <a:p>
            <a:endParaRPr lang="en-IN" dirty="0">
              <a:solidFill>
                <a:schemeClr val="bg1"/>
              </a:solidFill>
            </a:endParaRPr>
          </a:p>
        </p:txBody>
      </p:sp>
      <p:pic>
        <p:nvPicPr>
          <p:cNvPr id="4" name="Picture 3">
            <a:extLst>
              <a:ext uri="{FF2B5EF4-FFF2-40B4-BE49-F238E27FC236}">
                <a16:creationId xmlns:a16="http://schemas.microsoft.com/office/drawing/2014/main" id="{C083F7C6-EDC8-4ECE-A5F7-32CB90439625}"/>
              </a:ext>
            </a:extLst>
          </p:cNvPr>
          <p:cNvPicPr>
            <a:picLocks noChangeAspect="1"/>
          </p:cNvPicPr>
          <p:nvPr/>
        </p:nvPicPr>
        <p:blipFill>
          <a:blip r:embed="rId3"/>
          <a:stretch>
            <a:fillRect/>
          </a:stretch>
        </p:blipFill>
        <p:spPr>
          <a:xfrm>
            <a:off x="185738" y="3806636"/>
            <a:ext cx="4036087" cy="2745874"/>
          </a:xfrm>
          <a:prstGeom prst="rect">
            <a:avLst/>
          </a:prstGeom>
        </p:spPr>
      </p:pic>
      <p:pic>
        <p:nvPicPr>
          <p:cNvPr id="5" name="Picture 4">
            <a:extLst>
              <a:ext uri="{FF2B5EF4-FFF2-40B4-BE49-F238E27FC236}">
                <a16:creationId xmlns:a16="http://schemas.microsoft.com/office/drawing/2014/main" id="{2AD29DAB-1BD0-46C5-98DF-1B7AB5D2803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21825" y="3806636"/>
            <a:ext cx="3844001" cy="2725868"/>
          </a:xfrm>
          <a:prstGeom prst="rect">
            <a:avLst/>
          </a:prstGeom>
        </p:spPr>
      </p:pic>
      <p:pic>
        <p:nvPicPr>
          <p:cNvPr id="8" name="Picture 7">
            <a:extLst>
              <a:ext uri="{FF2B5EF4-FFF2-40B4-BE49-F238E27FC236}">
                <a16:creationId xmlns:a16="http://schemas.microsoft.com/office/drawing/2014/main" id="{CDB19A30-D457-4562-8089-8D4662A9A68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065826" y="3806635"/>
            <a:ext cx="3940436" cy="2745874"/>
          </a:xfrm>
          <a:prstGeom prst="rect">
            <a:avLst/>
          </a:prstGeom>
        </p:spPr>
      </p:pic>
    </p:spTree>
    <p:extLst>
      <p:ext uri="{BB962C8B-B14F-4D97-AF65-F5344CB8AC3E}">
        <p14:creationId xmlns:p14="http://schemas.microsoft.com/office/powerpoint/2010/main" val="2967264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amond(i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down)">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wipe(down)">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12"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strips(downLeft)">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12"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strips(downLeft)">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BA90B9A-31FA-481C-8FE9-16F9DA2B8E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extBox 2"/>
          <p:cNvSpPr txBox="1"/>
          <p:nvPr/>
        </p:nvSpPr>
        <p:spPr>
          <a:xfrm>
            <a:off x="603723" y="458956"/>
            <a:ext cx="11187113" cy="5940088"/>
          </a:xfrm>
          <a:prstGeom prst="rect">
            <a:avLst/>
          </a:prstGeom>
          <a:noFill/>
        </p:spPr>
        <p:txBody>
          <a:bodyPr wrap="square" rtlCol="0">
            <a:spAutoFit/>
          </a:bodyPr>
          <a:lstStyle/>
          <a:p>
            <a:r>
              <a:rPr lang="en-US" sz="3600" b="1" dirty="0">
                <a:solidFill>
                  <a:schemeClr val="bg1"/>
                </a:solidFill>
                <a:latin typeface="Times New Roman" panose="02020603050405020304" pitchFamily="18" charset="0"/>
                <a:cs typeface="Times New Roman" panose="02020603050405020304" pitchFamily="18" charset="0"/>
              </a:rPr>
              <a:t>Applications:</a:t>
            </a:r>
            <a:r>
              <a:rPr lang="en-US" sz="2800" dirty="0">
                <a:solidFill>
                  <a:schemeClr val="bg1"/>
                </a:solidFill>
              </a:rPr>
              <a:t>   </a:t>
            </a:r>
            <a:endParaRPr lang="en-US" sz="3200" dirty="0">
              <a:solidFill>
                <a:schemeClr val="bg1"/>
              </a:solidFill>
            </a:endParaRPr>
          </a:p>
          <a:p>
            <a:pPr marL="285750" lvl="0" indent="-285750">
              <a:buFont typeface="Arial" panose="020B0604020202020204" pitchFamily="34" charset="0"/>
              <a:buChar char="•"/>
            </a:pPr>
            <a:endParaRPr lang="en-US" sz="2000" b="1" dirty="0">
              <a:solidFill>
                <a:schemeClr val="bg1"/>
              </a:solidFill>
            </a:endParaRPr>
          </a:p>
          <a:p>
            <a:pPr marL="285750" lvl="0" indent="-285750">
              <a:buFont typeface="Arial" panose="020B0604020202020204" pitchFamily="34" charset="0"/>
              <a:buChar char="•"/>
            </a:pPr>
            <a:r>
              <a:rPr lang="en-US" sz="2400" b="1" dirty="0">
                <a:solidFill>
                  <a:schemeClr val="bg1"/>
                </a:solidFill>
              </a:rPr>
              <a:t>Nanomedicine:</a:t>
            </a:r>
            <a:r>
              <a:rPr lang="en-US" sz="2000" b="1" dirty="0">
                <a:solidFill>
                  <a:schemeClr val="bg1"/>
                </a:solidFill>
              </a:rPr>
              <a:t> </a:t>
            </a:r>
            <a:r>
              <a:rPr lang="en-US" sz="2000" dirty="0">
                <a:solidFill>
                  <a:schemeClr val="bg1"/>
                </a:solidFill>
              </a:rPr>
              <a:t>To deliver drugs, heat, light or other substances to specific types of cells such as cancer cells.</a:t>
            </a:r>
          </a:p>
          <a:p>
            <a:pPr marL="285750" lvl="0" indent="-285750">
              <a:buFont typeface="Arial" panose="020B0604020202020204" pitchFamily="34" charset="0"/>
              <a:buChar char="•"/>
            </a:pPr>
            <a:r>
              <a:rPr lang="en-US" sz="2400" b="1" dirty="0">
                <a:solidFill>
                  <a:schemeClr val="bg1"/>
                </a:solidFill>
              </a:rPr>
              <a:t>Nanoelectronics:</a:t>
            </a:r>
            <a:r>
              <a:rPr lang="en-US" sz="2000" dirty="0">
                <a:solidFill>
                  <a:schemeClr val="bg1"/>
                </a:solidFill>
              </a:rPr>
              <a:t> To improve display screens on electronic devices and to increase the density of memory chips.</a:t>
            </a:r>
          </a:p>
          <a:p>
            <a:pPr marL="285750" lvl="0" indent="-285750">
              <a:buFont typeface="Arial" panose="020B0604020202020204" pitchFamily="34" charset="0"/>
              <a:buChar char="•"/>
            </a:pPr>
            <a:r>
              <a:rPr lang="en-US" sz="2400" b="1" dirty="0">
                <a:solidFill>
                  <a:schemeClr val="bg1"/>
                </a:solidFill>
              </a:rPr>
              <a:t>Nanobiotechnology:</a:t>
            </a:r>
            <a:r>
              <a:rPr lang="en-US" sz="2400" dirty="0">
                <a:solidFill>
                  <a:schemeClr val="bg1"/>
                </a:solidFill>
              </a:rPr>
              <a:t> </a:t>
            </a:r>
            <a:r>
              <a:rPr lang="en-US" sz="2000" dirty="0">
                <a:solidFill>
                  <a:schemeClr val="bg1"/>
                </a:solidFill>
              </a:rPr>
              <a:t>To clean up existing pollution, improving manufacturing methods to reduce the generation of new pollution.</a:t>
            </a:r>
          </a:p>
          <a:p>
            <a:pPr marL="285750" lvl="0" indent="-285750">
              <a:buFont typeface="Arial" panose="020B0604020202020204" pitchFamily="34" charset="0"/>
              <a:buChar char="•"/>
            </a:pPr>
            <a:r>
              <a:rPr lang="en-US" sz="2400" b="1" dirty="0">
                <a:solidFill>
                  <a:schemeClr val="bg1"/>
                </a:solidFill>
              </a:rPr>
              <a:t>Cosmetics:</a:t>
            </a:r>
            <a:r>
              <a:rPr lang="en-US" sz="2400" dirty="0">
                <a:solidFill>
                  <a:schemeClr val="bg1"/>
                </a:solidFill>
              </a:rPr>
              <a:t> </a:t>
            </a:r>
            <a:r>
              <a:rPr lang="en-US" sz="2000" dirty="0">
                <a:solidFill>
                  <a:schemeClr val="bg1"/>
                </a:solidFill>
              </a:rPr>
              <a:t>It is found in day-to-day life from clothing to skin lotion.</a:t>
            </a:r>
          </a:p>
          <a:p>
            <a:pPr marL="285750" lvl="0" indent="-285750">
              <a:buFont typeface="Arial" panose="020B0604020202020204" pitchFamily="34" charset="0"/>
              <a:buChar char="•"/>
            </a:pPr>
            <a:r>
              <a:rPr lang="en-US" sz="2400" b="1" dirty="0">
                <a:solidFill>
                  <a:schemeClr val="bg1"/>
                </a:solidFill>
              </a:rPr>
              <a:t>Nano-fabrics</a:t>
            </a:r>
            <a:r>
              <a:rPr lang="en-US" sz="2800" b="1" dirty="0">
                <a:solidFill>
                  <a:schemeClr val="bg1"/>
                </a:solidFill>
              </a:rPr>
              <a:t>: </a:t>
            </a:r>
            <a:r>
              <a:rPr lang="en-US" sz="2000" dirty="0">
                <a:solidFill>
                  <a:schemeClr val="bg1"/>
                </a:solidFill>
              </a:rPr>
              <a:t>makes fabric water and stain resistant, odor-resistant.</a:t>
            </a:r>
          </a:p>
          <a:p>
            <a:pPr marL="285750" lvl="0" indent="-285750">
              <a:buFont typeface="Arial" panose="020B0604020202020204" pitchFamily="34" charset="0"/>
              <a:buChar char="•"/>
            </a:pPr>
            <a:r>
              <a:rPr lang="en-US" sz="2400" b="1" dirty="0">
                <a:solidFill>
                  <a:schemeClr val="bg1"/>
                </a:solidFill>
              </a:rPr>
              <a:t>Chemical sensors, carbon nanotubes</a:t>
            </a:r>
            <a:endParaRPr lang="en-US" sz="2400" dirty="0">
              <a:solidFill>
                <a:schemeClr val="bg1"/>
              </a:solidFill>
            </a:endParaRPr>
          </a:p>
          <a:p>
            <a:pPr marL="285750" lvl="0" indent="-285750">
              <a:buFont typeface="Arial" panose="020B0604020202020204" pitchFamily="34" charset="0"/>
              <a:buChar char="•"/>
            </a:pPr>
            <a:r>
              <a:rPr lang="en-US" sz="2400" b="1" dirty="0">
                <a:solidFill>
                  <a:schemeClr val="bg1"/>
                </a:solidFill>
              </a:rPr>
              <a:t>Nano devices: </a:t>
            </a:r>
            <a:r>
              <a:rPr lang="en-US" sz="2000" dirty="0">
                <a:solidFill>
                  <a:schemeClr val="bg1"/>
                </a:solidFill>
              </a:rPr>
              <a:t>nano computers, nanorobots</a:t>
            </a:r>
          </a:p>
          <a:p>
            <a:pPr marL="285750" lvl="0" indent="-285750">
              <a:buFont typeface="Arial" panose="020B0604020202020204" pitchFamily="34" charset="0"/>
              <a:buChar char="•"/>
            </a:pPr>
            <a:r>
              <a:rPr lang="en-US" sz="2400" b="1" dirty="0">
                <a:solidFill>
                  <a:schemeClr val="bg1"/>
                </a:solidFill>
              </a:rPr>
              <a:t>Neurosurgical practice</a:t>
            </a:r>
            <a:endParaRPr lang="en-US" sz="2400" dirty="0">
              <a:solidFill>
                <a:schemeClr val="bg1"/>
              </a:solidFill>
            </a:endParaRPr>
          </a:p>
          <a:p>
            <a:pPr marL="285750" lvl="0" indent="-285750">
              <a:buFont typeface="Arial" panose="020B0604020202020204" pitchFamily="34" charset="0"/>
              <a:buChar char="•"/>
            </a:pPr>
            <a:r>
              <a:rPr lang="en-US" sz="2400" b="1" dirty="0">
                <a:solidFill>
                  <a:schemeClr val="bg1"/>
                </a:solidFill>
              </a:rPr>
              <a:t>Space</a:t>
            </a:r>
            <a:endParaRPr lang="en-US" sz="2400" dirty="0">
              <a:solidFill>
                <a:schemeClr val="bg1"/>
              </a:solidFill>
            </a:endParaRPr>
          </a:p>
          <a:p>
            <a:pPr marL="285750" lvl="0" indent="-285750">
              <a:buFont typeface="Arial" panose="020B0604020202020204" pitchFamily="34" charset="0"/>
              <a:buChar char="•"/>
            </a:pPr>
            <a:r>
              <a:rPr lang="en-US" sz="2400" b="1" dirty="0">
                <a:solidFill>
                  <a:schemeClr val="bg1"/>
                </a:solidFill>
              </a:rPr>
              <a:t>Tissue-engineering,</a:t>
            </a:r>
            <a:endParaRPr lang="en-US" sz="2400" dirty="0">
              <a:solidFill>
                <a:schemeClr val="bg1"/>
              </a:solidFill>
            </a:endParaRPr>
          </a:p>
          <a:p>
            <a:endParaRPr lang="en-IN" sz="20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amond(i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down)">
                                      <p:cBhvr>
                                        <p:cTn id="12" dur="500"/>
                                        <p:tgtEl>
                                          <p:spTgt spid="3">
                                            <p:txEl>
                                              <p:pRg st="2" end="2"/>
                                            </p:txEl>
                                          </p:spTgt>
                                        </p:tgtEl>
                                      </p:cBhvr>
                                    </p:animEffect>
                                  </p:childTnLst>
                                </p:cTn>
                              </p:par>
                              <p:par>
                                <p:cTn id="13" presetID="22" presetClass="entr" presetSubtype="4"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wipe(down)">
                                      <p:cBhvr>
                                        <p:cTn id="15" dur="500"/>
                                        <p:tgtEl>
                                          <p:spTgt spid="3">
                                            <p:txEl>
                                              <p:pRg st="3" end="3"/>
                                            </p:txEl>
                                          </p:spTgt>
                                        </p:tgtEl>
                                      </p:cBhvr>
                                    </p:animEffect>
                                  </p:childTnLst>
                                </p:cTn>
                              </p:par>
                              <p:par>
                                <p:cTn id="16" presetID="22" presetClass="entr" presetSubtype="4"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wipe(down)">
                                      <p:cBhvr>
                                        <p:cTn id="18" dur="500"/>
                                        <p:tgtEl>
                                          <p:spTgt spid="3">
                                            <p:txEl>
                                              <p:pRg st="4" end="4"/>
                                            </p:txEl>
                                          </p:spTgt>
                                        </p:tgtEl>
                                      </p:cBhvr>
                                    </p:animEffect>
                                  </p:childTnLst>
                                </p:cTn>
                              </p:par>
                              <p:par>
                                <p:cTn id="19" presetID="22" presetClass="entr" presetSubtype="4"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wipe(down)">
                                      <p:cBhvr>
                                        <p:cTn id="21" dur="500"/>
                                        <p:tgtEl>
                                          <p:spTgt spid="3">
                                            <p:txEl>
                                              <p:pRg st="5" end="5"/>
                                            </p:txEl>
                                          </p:spTgt>
                                        </p:tgtEl>
                                      </p:cBhvr>
                                    </p:animEffect>
                                  </p:childTnLst>
                                </p:cTn>
                              </p:par>
                              <p:par>
                                <p:cTn id="22" presetID="22" presetClass="entr" presetSubtype="4" fill="hold" nodeType="with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wipe(down)">
                                      <p:cBhvr>
                                        <p:cTn id="24" dur="500"/>
                                        <p:tgtEl>
                                          <p:spTgt spid="3">
                                            <p:txEl>
                                              <p:pRg st="6" end="6"/>
                                            </p:txEl>
                                          </p:spTgt>
                                        </p:tgtEl>
                                      </p:cBhvr>
                                    </p:animEffect>
                                  </p:childTnLst>
                                </p:cTn>
                              </p:par>
                              <p:par>
                                <p:cTn id="25" presetID="22" presetClass="entr" presetSubtype="4"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wipe(down)">
                                      <p:cBhvr>
                                        <p:cTn id="27" dur="500"/>
                                        <p:tgtEl>
                                          <p:spTgt spid="3">
                                            <p:txEl>
                                              <p:pRg st="7" end="7"/>
                                            </p:txEl>
                                          </p:spTgt>
                                        </p:tgtEl>
                                      </p:cBhvr>
                                    </p:animEffect>
                                  </p:childTnLst>
                                </p:cTn>
                              </p:par>
                              <p:par>
                                <p:cTn id="28" presetID="22" presetClass="entr" presetSubtype="4" fill="hold" nodeType="withEffect">
                                  <p:stCondLst>
                                    <p:cond delay="0"/>
                                  </p:stCondLst>
                                  <p:childTnLst>
                                    <p:set>
                                      <p:cBhvr>
                                        <p:cTn id="29" dur="1" fill="hold">
                                          <p:stCondLst>
                                            <p:cond delay="0"/>
                                          </p:stCondLst>
                                        </p:cTn>
                                        <p:tgtEl>
                                          <p:spTgt spid="3">
                                            <p:txEl>
                                              <p:pRg st="8" end="8"/>
                                            </p:txEl>
                                          </p:spTgt>
                                        </p:tgtEl>
                                        <p:attrNameLst>
                                          <p:attrName>style.visibility</p:attrName>
                                        </p:attrNameLst>
                                      </p:cBhvr>
                                      <p:to>
                                        <p:strVal val="visible"/>
                                      </p:to>
                                    </p:set>
                                    <p:animEffect transition="in" filter="wipe(down)">
                                      <p:cBhvr>
                                        <p:cTn id="30" dur="500"/>
                                        <p:tgtEl>
                                          <p:spTgt spid="3">
                                            <p:txEl>
                                              <p:pRg st="8" end="8"/>
                                            </p:txEl>
                                          </p:spTgt>
                                        </p:tgtEl>
                                      </p:cBhvr>
                                    </p:animEffect>
                                  </p:childTnLst>
                                </p:cTn>
                              </p:par>
                              <p:par>
                                <p:cTn id="31" presetID="22" presetClass="entr" presetSubtype="4" fill="hold"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animEffect transition="in" filter="wipe(down)">
                                      <p:cBhvr>
                                        <p:cTn id="33" dur="500"/>
                                        <p:tgtEl>
                                          <p:spTgt spid="3">
                                            <p:txEl>
                                              <p:pRg st="9" end="9"/>
                                            </p:txEl>
                                          </p:spTgt>
                                        </p:tgtEl>
                                      </p:cBhvr>
                                    </p:animEffect>
                                  </p:childTnLst>
                                </p:cTn>
                              </p:par>
                              <p:par>
                                <p:cTn id="34" presetID="22" presetClass="entr" presetSubtype="4" fill="hold" nodeType="withEffect">
                                  <p:stCondLst>
                                    <p:cond delay="0"/>
                                  </p:stCondLst>
                                  <p:childTnLst>
                                    <p:set>
                                      <p:cBhvr>
                                        <p:cTn id="35" dur="1" fill="hold">
                                          <p:stCondLst>
                                            <p:cond delay="0"/>
                                          </p:stCondLst>
                                        </p:cTn>
                                        <p:tgtEl>
                                          <p:spTgt spid="3">
                                            <p:txEl>
                                              <p:pRg st="10" end="10"/>
                                            </p:txEl>
                                          </p:spTgt>
                                        </p:tgtEl>
                                        <p:attrNameLst>
                                          <p:attrName>style.visibility</p:attrName>
                                        </p:attrNameLst>
                                      </p:cBhvr>
                                      <p:to>
                                        <p:strVal val="visible"/>
                                      </p:to>
                                    </p:set>
                                    <p:animEffect transition="in" filter="wipe(down)">
                                      <p:cBhvr>
                                        <p:cTn id="36" dur="500"/>
                                        <p:tgtEl>
                                          <p:spTgt spid="3">
                                            <p:txEl>
                                              <p:pRg st="10" end="10"/>
                                            </p:txEl>
                                          </p:spTgt>
                                        </p:tgtEl>
                                      </p:cBhvr>
                                    </p:animEffect>
                                  </p:childTnLst>
                                </p:cTn>
                              </p:par>
                              <p:par>
                                <p:cTn id="37" presetID="22" presetClass="entr" presetSubtype="4" fill="hold" nodeType="with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animEffect transition="in" filter="wipe(down)">
                                      <p:cBhvr>
                                        <p:cTn id="39"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BA90B9A-31FA-481C-8FE9-16F9DA2B8E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extBox 2"/>
          <p:cNvSpPr txBox="1"/>
          <p:nvPr/>
        </p:nvSpPr>
        <p:spPr>
          <a:xfrm>
            <a:off x="200025" y="148471"/>
            <a:ext cx="12329850" cy="6093976"/>
          </a:xfrm>
          <a:prstGeom prst="rect">
            <a:avLst/>
          </a:prstGeom>
          <a:noFill/>
        </p:spPr>
        <p:txBody>
          <a:bodyPr wrap="none" rtlCol="0">
            <a:spAutoFit/>
          </a:bodyPr>
          <a:lstStyle/>
          <a:p>
            <a:r>
              <a:rPr lang="en-US" sz="3200" b="1" dirty="0">
                <a:solidFill>
                  <a:schemeClr val="bg1"/>
                </a:solidFill>
                <a:latin typeface="Times New Roman" panose="02020603050405020304" pitchFamily="18" charset="0"/>
                <a:cs typeface="Times New Roman" panose="02020603050405020304" pitchFamily="18" charset="0"/>
              </a:rPr>
              <a:t>ADVANTAGES:</a:t>
            </a:r>
            <a:endParaRPr lang="en-US" sz="4000" dirty="0">
              <a:solidFill>
                <a:schemeClr val="bg1"/>
              </a:solidFill>
              <a:latin typeface="Times New Roman" panose="02020603050405020304" pitchFamily="18" charset="0"/>
              <a:cs typeface="Times New Roman" panose="02020603050405020304" pitchFamily="18" charset="0"/>
            </a:endParaRPr>
          </a:p>
          <a:p>
            <a:pPr lvl="0"/>
            <a:endParaRPr lang="en-US" sz="2400" dirty="0">
              <a:solidFill>
                <a:schemeClr val="bg1"/>
              </a:solidFill>
              <a:latin typeface="Times New Roman" panose="02020603050405020304" pitchFamily="18" charset="0"/>
              <a:cs typeface="Times New Roman" panose="02020603050405020304" pitchFamily="18" charset="0"/>
            </a:endParaRPr>
          </a:p>
          <a:p>
            <a:pPr marL="342900" lvl="0" indent="-342900">
              <a:buFont typeface="Wingdings" panose="05000000000000000000" pitchFamily="2" charset="2"/>
              <a:buChar char="ü"/>
            </a:pPr>
            <a:r>
              <a:rPr lang="en-US" sz="2400" dirty="0">
                <a:solidFill>
                  <a:schemeClr val="bg1"/>
                </a:solidFill>
                <a:latin typeface="Times New Roman" panose="02020603050405020304" pitchFamily="18" charset="0"/>
                <a:cs typeface="Times New Roman" panose="02020603050405020304" pitchFamily="18" charset="0"/>
              </a:rPr>
              <a:t>Products that are stronger, lighter, cheaper, durable and precise can be produced.</a:t>
            </a:r>
          </a:p>
          <a:p>
            <a:pPr lvl="0"/>
            <a:endParaRPr lang="en-US" sz="2400" dirty="0">
              <a:solidFill>
                <a:schemeClr val="bg1"/>
              </a:solidFill>
              <a:latin typeface="Times New Roman" panose="02020603050405020304" pitchFamily="18" charset="0"/>
              <a:cs typeface="Times New Roman" panose="02020603050405020304" pitchFamily="18" charset="0"/>
            </a:endParaRPr>
          </a:p>
          <a:p>
            <a:pPr marL="342900" lvl="0" indent="-342900">
              <a:buFont typeface="Wingdings" panose="05000000000000000000" pitchFamily="2" charset="2"/>
              <a:buChar char="ü"/>
            </a:pPr>
            <a:r>
              <a:rPr lang="en-US" sz="2400" dirty="0">
                <a:solidFill>
                  <a:schemeClr val="bg1"/>
                </a:solidFill>
                <a:latin typeface="Times New Roman" panose="02020603050405020304" pitchFamily="18" charset="0"/>
                <a:cs typeface="Times New Roman" panose="02020603050405020304" pitchFamily="18" charset="0"/>
              </a:rPr>
              <a:t>Computers that are million times smaller and billion times faster can be developed.</a:t>
            </a:r>
          </a:p>
          <a:p>
            <a:pPr lvl="0"/>
            <a:endParaRPr lang="en-US" sz="2400" dirty="0">
              <a:solidFill>
                <a:schemeClr val="bg1"/>
              </a:solidFill>
              <a:latin typeface="Times New Roman" panose="02020603050405020304" pitchFamily="18" charset="0"/>
              <a:cs typeface="Times New Roman" panose="02020603050405020304" pitchFamily="18" charset="0"/>
            </a:endParaRPr>
          </a:p>
          <a:p>
            <a:pPr marL="342900" lvl="0" indent="-342900">
              <a:buFont typeface="Wingdings" panose="05000000000000000000" pitchFamily="2" charset="2"/>
              <a:buChar char="ü"/>
            </a:pPr>
            <a:r>
              <a:rPr lang="en-US" sz="2400" dirty="0">
                <a:solidFill>
                  <a:schemeClr val="bg1"/>
                </a:solidFill>
                <a:latin typeface="Times New Roman" panose="02020603050405020304" pitchFamily="18" charset="0"/>
                <a:cs typeface="Times New Roman" panose="02020603050405020304" pitchFamily="18" charset="0"/>
              </a:rPr>
              <a:t>Automatic pollution clean-up.</a:t>
            </a:r>
          </a:p>
          <a:p>
            <a:pPr lvl="0"/>
            <a:endParaRPr lang="en-US" sz="2400" dirty="0">
              <a:solidFill>
                <a:schemeClr val="bg1"/>
              </a:solidFill>
              <a:latin typeface="Times New Roman" panose="02020603050405020304" pitchFamily="18" charset="0"/>
              <a:cs typeface="Times New Roman" panose="02020603050405020304" pitchFamily="18" charset="0"/>
            </a:endParaRPr>
          </a:p>
          <a:p>
            <a:pPr lvl="0"/>
            <a:r>
              <a:rPr lang="en-US" sz="3200" dirty="0">
                <a:solidFill>
                  <a:schemeClr val="bg1"/>
                </a:solidFill>
                <a:latin typeface="Times New Roman" panose="02020603050405020304" pitchFamily="18" charset="0"/>
                <a:cs typeface="Times New Roman" panose="02020603050405020304" pitchFamily="18" charset="0"/>
              </a:rPr>
              <a:t>DISADVANTAGES:</a:t>
            </a:r>
          </a:p>
          <a:p>
            <a:pPr lvl="0"/>
            <a:endParaRPr lang="en-US" sz="2400" dirty="0">
              <a:solidFill>
                <a:schemeClr val="bg1"/>
              </a:solidFill>
              <a:latin typeface="Times New Roman" panose="02020603050405020304" pitchFamily="18" charset="0"/>
              <a:cs typeface="Times New Roman" panose="02020603050405020304" pitchFamily="18" charset="0"/>
            </a:endParaRPr>
          </a:p>
          <a:p>
            <a:pPr marL="285750" lvl="0" indent="-285750">
              <a:buFont typeface="Wingdings" panose="05000000000000000000" pitchFamily="2" charset="2"/>
              <a:buChar char="ü"/>
            </a:pPr>
            <a:r>
              <a:rPr lang="en-US" sz="2400" dirty="0">
                <a:solidFill>
                  <a:schemeClr val="bg1"/>
                </a:solidFill>
                <a:latin typeface="Times New Roman" panose="02020603050405020304" pitchFamily="18" charset="0"/>
                <a:cs typeface="Times New Roman" panose="02020603050405020304" pitchFamily="18" charset="0"/>
              </a:rPr>
              <a:t>Nanoparticles can cause damage to human body. Carbon nanotubes can cause infection to lungs.</a:t>
            </a:r>
          </a:p>
          <a:p>
            <a:pPr marL="342900" indent="-342900">
              <a:lnSpc>
                <a:spcPct val="150000"/>
              </a:lnSpc>
              <a:buFont typeface="Wingdings" panose="05000000000000000000" pitchFamily="2" charset="2"/>
              <a:buChar char="ü"/>
            </a:pPr>
            <a:r>
              <a:rPr lang="en-US" sz="2400" dirty="0">
                <a:solidFill>
                  <a:schemeClr val="bg1"/>
                </a:solidFill>
                <a:latin typeface="Times New Roman" panose="02020603050405020304" pitchFamily="18" charset="0"/>
                <a:cs typeface="Times New Roman" panose="02020603050405020304" pitchFamily="18" charset="0"/>
              </a:rPr>
              <a:t>Nano-pollution is created by toxic waste.</a:t>
            </a:r>
          </a:p>
          <a:p>
            <a:pPr marL="285750" lvl="0" indent="-285750">
              <a:lnSpc>
                <a:spcPct val="150000"/>
              </a:lnSpc>
              <a:buFont typeface="Wingdings" panose="05000000000000000000" pitchFamily="2" charset="2"/>
              <a:buChar char="ü"/>
            </a:pPr>
            <a:r>
              <a:rPr lang="en-US" sz="2400" dirty="0">
                <a:solidFill>
                  <a:schemeClr val="bg1"/>
                </a:solidFill>
                <a:latin typeface="Times New Roman" panose="02020603050405020304" pitchFamily="18" charset="0"/>
                <a:cs typeface="Times New Roman" panose="02020603050405020304" pitchFamily="18" charset="0"/>
              </a:rPr>
              <a:t>Due to mass production in food and consumer products, oil and diamonds becomes worthless. </a:t>
            </a:r>
          </a:p>
          <a:p>
            <a:r>
              <a:rPr lang="en-US" sz="2000" b="1" dirty="0">
                <a:solidFill>
                  <a:schemeClr val="bg1"/>
                </a:solidFill>
              </a:rPr>
              <a:t> </a:t>
            </a:r>
            <a:endParaRPr lang="en-US" sz="2000" dirty="0">
              <a:solidFill>
                <a:schemeClr val="bg1"/>
              </a:solidFill>
            </a:endParaRPr>
          </a:p>
          <a:p>
            <a:endParaRPr lang="en-IN"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amond(in)">
                                      <p:cBhvr>
                                        <p:cTn id="7" dur="2000"/>
                                        <p:tgtEl>
                                          <p:spTgt spid="3">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wipe(down)">
                                      <p:cBhvr>
                                        <p:cTn id="10" dur="500"/>
                                        <p:tgtEl>
                                          <p:spTgt spid="3">
                                            <p:txEl>
                                              <p:pRg st="2" end="2"/>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wipe(down)">
                                      <p:cBhvr>
                                        <p:cTn id="13" dur="500"/>
                                        <p:tgtEl>
                                          <p:spTgt spid="3">
                                            <p:txEl>
                                              <p:pRg st="4" end="4"/>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3">
                                            <p:txEl>
                                              <p:pRg st="6" end="6"/>
                                            </p:txEl>
                                          </p:spTgt>
                                        </p:tgtEl>
                                        <p:attrNameLst>
                                          <p:attrName>style.visibility</p:attrName>
                                        </p:attrNameLst>
                                      </p:cBhvr>
                                      <p:to>
                                        <p:strVal val="visible"/>
                                      </p:to>
                                    </p:set>
                                    <p:animEffect transition="in" filter="wipe(down)">
                                      <p:cBhvr>
                                        <p:cTn id="16" dur="500"/>
                                        <p:tgtEl>
                                          <p:spTgt spid="3">
                                            <p:txEl>
                                              <p:pRg st="6" end="6"/>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animEffect transition="in" filter="wipe(down)">
                                      <p:cBhvr>
                                        <p:cTn id="19" dur="500"/>
                                        <p:tgtEl>
                                          <p:spTgt spid="3">
                                            <p:txEl>
                                              <p:pRg st="8" end="8"/>
                                            </p:txEl>
                                          </p:spTgt>
                                        </p:tgtEl>
                                      </p:cBhvr>
                                    </p:animEffect>
                                  </p:childTnLst>
                                </p:cTn>
                              </p:par>
                              <p:par>
                                <p:cTn id="20" presetID="22" presetClass="entr" presetSubtype="4" fill="hold" nodeType="withEffect">
                                  <p:stCondLst>
                                    <p:cond delay="0"/>
                                  </p:stCondLst>
                                  <p:childTnLst>
                                    <p:set>
                                      <p:cBhvr>
                                        <p:cTn id="21" dur="1" fill="hold">
                                          <p:stCondLst>
                                            <p:cond delay="0"/>
                                          </p:stCondLst>
                                        </p:cTn>
                                        <p:tgtEl>
                                          <p:spTgt spid="3">
                                            <p:txEl>
                                              <p:pRg st="10" end="10"/>
                                            </p:txEl>
                                          </p:spTgt>
                                        </p:tgtEl>
                                        <p:attrNameLst>
                                          <p:attrName>style.visibility</p:attrName>
                                        </p:attrNameLst>
                                      </p:cBhvr>
                                      <p:to>
                                        <p:strVal val="visible"/>
                                      </p:to>
                                    </p:set>
                                    <p:animEffect transition="in" filter="wipe(down)">
                                      <p:cBhvr>
                                        <p:cTn id="22" dur="500"/>
                                        <p:tgtEl>
                                          <p:spTgt spid="3">
                                            <p:txEl>
                                              <p:pRg st="10" end="10"/>
                                            </p:txEl>
                                          </p:spTgt>
                                        </p:tgtEl>
                                      </p:cBhvr>
                                    </p:animEffect>
                                  </p:childTnLst>
                                </p:cTn>
                              </p:par>
                              <p:par>
                                <p:cTn id="23" presetID="22" presetClass="entr" presetSubtype="4" fill="hold" nodeType="withEffect">
                                  <p:stCondLst>
                                    <p:cond delay="0"/>
                                  </p:stCondLst>
                                  <p:childTnLst>
                                    <p:set>
                                      <p:cBhvr>
                                        <p:cTn id="24" dur="1" fill="hold">
                                          <p:stCondLst>
                                            <p:cond delay="0"/>
                                          </p:stCondLst>
                                        </p:cTn>
                                        <p:tgtEl>
                                          <p:spTgt spid="3">
                                            <p:txEl>
                                              <p:pRg st="11" end="11"/>
                                            </p:txEl>
                                          </p:spTgt>
                                        </p:tgtEl>
                                        <p:attrNameLst>
                                          <p:attrName>style.visibility</p:attrName>
                                        </p:attrNameLst>
                                      </p:cBhvr>
                                      <p:to>
                                        <p:strVal val="visible"/>
                                      </p:to>
                                    </p:set>
                                    <p:animEffect transition="in" filter="wipe(down)">
                                      <p:cBhvr>
                                        <p:cTn id="25" dur="500"/>
                                        <p:tgtEl>
                                          <p:spTgt spid="3">
                                            <p:txEl>
                                              <p:pRg st="11" end="11"/>
                                            </p:txEl>
                                          </p:spTgt>
                                        </p:tgtEl>
                                      </p:cBhvr>
                                    </p:animEffect>
                                  </p:childTnLst>
                                </p:cTn>
                              </p:par>
                              <p:par>
                                <p:cTn id="26" presetID="22" presetClass="entr" presetSubtype="4" fill="hold" nodeType="withEffect">
                                  <p:stCondLst>
                                    <p:cond delay="0"/>
                                  </p:stCondLst>
                                  <p:childTnLst>
                                    <p:set>
                                      <p:cBhvr>
                                        <p:cTn id="27" dur="1" fill="hold">
                                          <p:stCondLst>
                                            <p:cond delay="0"/>
                                          </p:stCondLst>
                                        </p:cTn>
                                        <p:tgtEl>
                                          <p:spTgt spid="3">
                                            <p:txEl>
                                              <p:pRg st="12" end="12"/>
                                            </p:txEl>
                                          </p:spTgt>
                                        </p:tgtEl>
                                        <p:attrNameLst>
                                          <p:attrName>style.visibility</p:attrName>
                                        </p:attrNameLst>
                                      </p:cBhvr>
                                      <p:to>
                                        <p:strVal val="visible"/>
                                      </p:to>
                                    </p:set>
                                    <p:animEffect transition="in" filter="wipe(down)">
                                      <p:cBhvr>
                                        <p:cTn id="28"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8686CD4-BC93-4E50-B60E-4741AA8301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308</TotalTime>
  <Words>642</Words>
  <Application>Microsoft Office PowerPoint</Application>
  <PresentationFormat>Widescreen</PresentationFormat>
  <Paragraphs>78</Paragraphs>
  <Slides>10</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vt:i4>
      </vt:variant>
    </vt:vector>
  </HeadingPairs>
  <TitlesOfParts>
    <vt:vector size="19" baseType="lpstr">
      <vt:lpstr>Arial</vt:lpstr>
      <vt:lpstr>Calibri</vt:lpstr>
      <vt:lpstr>Calibri Light</vt:lpstr>
      <vt:lpstr>Stencil</vt:lpstr>
      <vt:lpstr>Tempus Sans ITC</vt:lpstr>
      <vt:lpstr>Times New Roman</vt:lpstr>
      <vt:lpstr>Viner Hand ITC</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Lalitha Praneetha Lakkimsetti</dc:creator>
  <cp:lastModifiedBy>Venkata Govindu, Mylapally</cp:lastModifiedBy>
  <cp:revision>27</cp:revision>
  <dcterms:created xsi:type="dcterms:W3CDTF">2019-09-12T13:08:43Z</dcterms:created>
  <dcterms:modified xsi:type="dcterms:W3CDTF">2021-10-01T07:38:42Z</dcterms:modified>
</cp:coreProperties>
</file>